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image1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2.png" ContentType="image/png"/>
  <Override PartName="/ppt/media/image6.jpeg" ContentType="image/jpeg"/>
  <Override PartName="/ppt/media/image7.png" ContentType="image/png"/>
  <Override PartName="/ppt/media/image8.png" ContentType="image/png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2.xml.rels" ContentType="application/vnd.openxmlformats-package.relationships+xml"/>
  <Override PartName="/ppt/slides/_rels/slide10.xml.rels" ContentType="application/vnd.openxmlformats-package.relationships+xml"/>
  <Override PartName="/ppt/slides/_rels/slide16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15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7320" cy="6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91680" y="93420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253080" y="185760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F2A656-69AF-4907-B282-5DBAA11B4193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" name="Google Shape;19;p3" descr=""/>
          <p:cNvPicPr/>
          <p:nvPr/>
        </p:nvPicPr>
        <p:blipFill>
          <a:blip r:embed="rId4"/>
          <a:stretch/>
        </p:blipFill>
        <p:spPr>
          <a:xfrm>
            <a:off x="6983640" y="415080"/>
            <a:ext cx="1973520" cy="2998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9;p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7320" cy="6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C49252-8999-4A15-8E5F-CE4FBEC98403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" name="Google Shape;14;p2" descr=""/>
          <p:cNvPicPr/>
          <p:nvPr/>
        </p:nvPicPr>
        <p:blipFill>
          <a:blip r:embed="rId4"/>
          <a:stretch/>
        </p:blipFill>
        <p:spPr>
          <a:xfrm>
            <a:off x="3463200" y="4730040"/>
            <a:ext cx="2217240" cy="33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9;p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7320" cy="6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91680" y="7765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54460F-A024-480D-9C2E-82677E1EE844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9;p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7320" cy="6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91680" y="7765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300E39-5704-4D30-85BA-E44EFAC0BB41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9;p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7320" cy="6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5000" lnSpcReduction="9999"/>
          </a:bodyPr>
          <a:p>
            <a:pPr indent="0"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AD923D-FD9C-4681-916A-5A43B3774001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9;p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7320" cy="6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E9226B-108A-4A8D-BC90-49237823D58A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9;p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7320" cy="6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Google Shape;36;p8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DA518F-5EBD-4ED2-9F05-DF71791C7360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9;p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7320" cy="6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2386E4-D725-4AF8-8F5B-CD1041D2A14D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9;p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7320" cy="6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b="0" lang="en-US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4F0010-112B-461B-9BC7-2645407B2F9F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9;p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7320" cy="6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F67D73-67D7-490F-ADFC-7BE23E1EC95D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www.kaggle.com/datasets/tawsifurrahman/covid19-radiography-database" TargetMode="External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s://www.kaggle.com/datasets/tawsifurrahman/covid19-radiography-database" TargetMode="Externa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Box 4"/>
          <p:cNvSpPr/>
          <p:nvPr/>
        </p:nvSpPr>
        <p:spPr>
          <a:xfrm>
            <a:off x="707040" y="720000"/>
            <a:ext cx="788112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Internship Review -I : MCE434N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Xception-Powered Deep Neural Network for Radiographic Analysis</a:t>
            </a: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ambria"/>
                <a:ea typeface="Arial"/>
              </a:rPr>
              <a:t>                            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object 2"/>
          <p:cNvSpPr/>
          <p:nvPr/>
        </p:nvSpPr>
        <p:spPr>
          <a:xfrm>
            <a:off x="860400" y="2206440"/>
            <a:ext cx="7727760" cy="186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040" bIns="0" anchor="t">
            <a:spAutoFit/>
          </a:bodyPr>
          <a:p>
            <a:pPr marL="12600" algn="ctr">
              <a:lnSpc>
                <a:spcPct val="100000"/>
              </a:lnSpc>
              <a:spcBef>
                <a:spcPts val="360"/>
              </a:spcBef>
              <a:tabLst>
                <a:tab algn="l" pos="351468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Veerasagar S 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ct val="100000"/>
              </a:lnSpc>
              <a:spcBef>
                <a:spcPts val="360"/>
              </a:spcBef>
              <a:tabLst>
                <a:tab algn="l" pos="351468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1RV24SCS17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ct val="100000"/>
              </a:lnSpc>
              <a:spcBef>
                <a:spcPts val="360"/>
              </a:spcBef>
              <a:tabLst>
                <a:tab algn="l" pos="351468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 Centre of Competence in Visual Computing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ct val="100000"/>
              </a:lnSpc>
              <a:spcBef>
                <a:spcPts val="360"/>
              </a:spcBef>
              <a:tabLst>
                <a:tab algn="l" pos="351468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20"/>
              </a:spcBef>
              <a:tabLst>
                <a:tab algn="l" pos="351468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	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	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	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	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	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20"/>
              </a:spcBef>
              <a:tabLst>
                <a:tab algn="l" pos="351468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3" name="Table 4"/>
          <p:cNvGraphicFramePr/>
          <p:nvPr/>
        </p:nvGraphicFramePr>
        <p:xfrm>
          <a:off x="244800" y="3490200"/>
          <a:ext cx="8654400" cy="1310400"/>
        </p:xfrm>
        <a:graphic>
          <a:graphicData uri="http://schemas.openxmlformats.org/drawingml/2006/table">
            <a:tbl>
              <a:tblPr/>
              <a:tblGrid>
                <a:gridCol w="4327200"/>
                <a:gridCol w="4327200"/>
              </a:tblGrid>
              <a:tr h="6012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Internal Guide Name: </a:t>
                      </a:r>
                      <a:r>
                        <a:rPr b="1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Dr. Soumya A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Designation: Professor 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Organization: R. V. College Of Engineering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External Guide Name: </a:t>
                      </a:r>
                      <a:r>
                        <a:rPr b="1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Dr. M S Srividya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Designation: Professor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Organization : R. V. College Of Engineering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2"/>
          <p:cNvSpPr/>
          <p:nvPr/>
        </p:nvSpPr>
        <p:spPr>
          <a:xfrm>
            <a:off x="808560" y="684720"/>
            <a:ext cx="7645320" cy="43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698400" indent="-6858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  <a:tabLst>
                <a:tab algn="l" pos="841680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Introduction about the Internship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indent="-6858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  <a:tabLst>
                <a:tab algn="l" pos="8416800"/>
              </a:tabLst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Exploration and Organizational Understanding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28584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algn="l" pos="841680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Workplace Description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28584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algn="l" pos="841680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Product/Service Knowledge,   Organizational Concepts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indent="-6858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  <a:tabLst>
                <a:tab algn="l" pos="8416800"/>
              </a:tabLst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Communication, Research, Teamwork, and Leadership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Symbol" charset="2"/>
              <a:buChar char=""/>
              <a:tabLst>
                <a:tab algn="l" pos="841680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Writing &amp; Oral Communication,   Research &amp; Technology Use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Symbol" charset="2"/>
              <a:buChar char=""/>
              <a:tabLst>
                <a:tab algn="l" pos="841680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Teamwork ,         Leadership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indent="-6858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  <a:tabLst>
                <a:tab algn="l" pos="8416800"/>
              </a:tabLst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Higher Order Thinking and Ethical Problem Solving 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Symbol" charset="2"/>
              <a:buChar char=""/>
              <a:tabLst>
                <a:tab algn="l" pos="841680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Critical Thinking,       Problem Solving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Symbol" charset="2"/>
              <a:buChar char=""/>
              <a:tabLst>
                <a:tab algn="l" pos="841680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Synthesis &amp; Evaluation,    Ethical Standards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indent="-6858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  <a:tabLst>
                <a:tab algn="l" pos="8416800"/>
              </a:tabLst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Program-Specific Skills and Tool Application 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Symbol" charset="2"/>
              <a:buChar char=""/>
              <a:tabLst>
                <a:tab algn="l" pos="841680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Technical Competency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Symbol" charset="2"/>
              <a:buChar char=""/>
              <a:tabLst>
                <a:tab algn="l" pos="841680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Knowledge Application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Symbol" charset="2"/>
              <a:buChar char=""/>
              <a:tabLst>
                <a:tab algn="l" pos="841680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Innovation &amp; Creativity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Symbol" charset="2"/>
              <a:buChar char=""/>
              <a:tabLst>
                <a:tab algn="l" pos="841680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Relevance to Specialization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indent="-6858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algn="l" pos="841680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References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object 9"/>
          <p:cNvSpPr/>
          <p:nvPr/>
        </p:nvSpPr>
        <p:spPr>
          <a:xfrm>
            <a:off x="2752920" y="210600"/>
            <a:ext cx="4610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648324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PRESENTATION CONTENTS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8"/>
          <p:cNvSpPr/>
          <p:nvPr/>
        </p:nvSpPr>
        <p:spPr>
          <a:xfrm>
            <a:off x="2751120" y="361440"/>
            <a:ext cx="4104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Introduction about the Internship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Rectangle 2"/>
          <p:cNvSpPr/>
          <p:nvPr/>
        </p:nvSpPr>
        <p:spPr>
          <a:xfrm>
            <a:off x="255960" y="1214640"/>
            <a:ext cx="8632080" cy="28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marL="285840" indent="-285840" algn="just">
              <a:lnSpc>
                <a:spcPct val="150000"/>
              </a:lnSpc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program begins with foundational topics such as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Python programming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emphasizing libraries like NumPy, Pandas, Matplotlib, and Seaborn for data handling and visualization.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50000"/>
              </a:lnSpc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 then explore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 analytics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using tools like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Tableau, Power BI, and R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followed by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image processing with OpenCV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50000"/>
              </a:lnSpc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Building on these fundamentals, the next phase introduces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machine learning concepts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including linear and logistic regression, supervised learning algorithms like Decision Trees, KNN, and unsupervised learning through K-means clustering.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bject 8"/>
          <p:cNvSpPr/>
          <p:nvPr/>
        </p:nvSpPr>
        <p:spPr>
          <a:xfrm>
            <a:off x="2751120" y="361440"/>
            <a:ext cx="4104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Introduction about the Internship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Rectangle 2"/>
          <p:cNvSpPr/>
          <p:nvPr/>
        </p:nvSpPr>
        <p:spPr>
          <a:xfrm>
            <a:off x="255960" y="1373400"/>
            <a:ext cx="8632080" cy="23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lvl="1" marL="285840" indent="-285840" algn="just">
              <a:lnSpc>
                <a:spcPct val="150000"/>
              </a:lnSpc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internship advances into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neural networks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and their variants (CNN, RNN),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ensemble learning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and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transformer models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advanced visual computing applications.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85840" indent="-285840" algn="just">
              <a:lnSpc>
                <a:spcPct val="150000"/>
              </a:lnSpc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final modules focus on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LLMs and Generative AI tools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literature exploration, algorithm selection, dataset analysis, implementation, and project presentation ensuring participants gain both theoretical understanding and practical project-based expertise in visual computing.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bject 8"/>
          <p:cNvSpPr/>
          <p:nvPr/>
        </p:nvSpPr>
        <p:spPr>
          <a:xfrm>
            <a:off x="1993320" y="334800"/>
            <a:ext cx="515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400"/>
              </a:spcBef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Exploration and Organizational Understanding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Box 3"/>
          <p:cNvSpPr/>
          <p:nvPr/>
        </p:nvSpPr>
        <p:spPr>
          <a:xfrm>
            <a:off x="294120" y="1029960"/>
            <a:ext cx="8660160" cy="337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The Industry-Certified Internship Program at RV College of Engineering, Bengaluru emphasizes practical upskilling and career preparedness, aligning with AICTE’s mandate for experiential learning in engineering education.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Students participate in multidisciplinary, cutting-edge projects under the guidance of expert faculty mentors.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Through exposure to various Centres of Excellence and Competence, participants strengthen their technical, analytical, and research capabilities.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The program fosters hands-on learning, professional networking, and transforms students into industry-ready engineers.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157480" y="177480"/>
            <a:ext cx="4253400" cy="72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Organizational Concepts</a:t>
            </a:r>
            <a:br>
              <a:rPr sz="2200"/>
            </a:br>
            <a:br>
              <a:rPr sz="2800"/>
            </a:b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5"/>
          <p:cNvSpPr/>
          <p:nvPr/>
        </p:nvSpPr>
        <p:spPr>
          <a:xfrm>
            <a:off x="273240" y="903960"/>
            <a:ext cx="8628480" cy="33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Python Programming and Image Processing: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This module provides a strong foundation in Python programming, emphasizing its powerful libraries such as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NumPy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Pandas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Matplotlib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and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Seaborn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efficient data handling, analysis, and visualization.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 also introduces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OpenCV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a widely used computer vision library, enabling students to perform hands-on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image processing tasks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like filtering, edge detection, and feature extraction.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Through practical sessions, learners gain the skills to manipulate and analyze visual data, preparing them for advanced topics in machine learning and visual computing.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"/>
          <p:cNvSpPr/>
          <p:nvPr/>
        </p:nvSpPr>
        <p:spPr>
          <a:xfrm>
            <a:off x="391680" y="1019520"/>
            <a:ext cx="8226360" cy="37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Teamwork -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Collaboration and teamwork were integral to the learning experience, involving close coordination with multiple domains to design and validate model.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Critical Thinking -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Applied critical thinking skills to analyze and resolve complex error within the model, ensuring accurate and precise model output.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Problem Solving -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Contributed to problem-solving initiatives by developing and implementing time-bound access roles, enabling users to obtain temporary permissions for specific tasks.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Synthesis and Evaluation of Machine Learning Models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This stage focuses on integrating the developed machine learning models and rigorously evaluating their performance.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Box 9"/>
          <p:cNvSpPr/>
          <p:nvPr/>
        </p:nvSpPr>
        <p:spPr>
          <a:xfrm>
            <a:off x="1816920" y="323640"/>
            <a:ext cx="53755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Communication, Research, Teamwork, and Leadership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3"/>
          <p:cNvSpPr/>
          <p:nvPr/>
        </p:nvSpPr>
        <p:spPr>
          <a:xfrm>
            <a:off x="2286000" y="165240"/>
            <a:ext cx="49158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Xception-Powered Deep Neural Network for  Radiographic Analysis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Box 5"/>
          <p:cNvSpPr/>
          <p:nvPr/>
        </p:nvSpPr>
        <p:spPr>
          <a:xfrm>
            <a:off x="168120" y="872280"/>
            <a:ext cx="8807400" cy="30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This project uses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deep learning and transfer learning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specifically the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Xception model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to automatically classify chest X-ray images into categories such as COVID-19, Normal, and Pneumonia. By leveraging advanced image-processing techniques and pre-trained neural networks, the system aims to improve diagnostic accuracy, reduce human error, and assist medical professionals in early disease detection.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Problem statement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“Develop a deep learning model using transfer learning to accurately classify COVID-19 radiography images while handling data imbalance and improving diagnostic reliability.”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3"/>
          <p:cNvSpPr/>
          <p:nvPr/>
        </p:nvSpPr>
        <p:spPr>
          <a:xfrm>
            <a:off x="2286000" y="165240"/>
            <a:ext cx="4915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Program-Specific Skills and Tool Application 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2" descr="A collage of cells with different colors&#10;&#10;AI-generated content may be incorrect."/>
          <p:cNvPicPr/>
          <p:nvPr/>
        </p:nvPicPr>
        <p:blipFill>
          <a:blip r:embed="rId1"/>
          <a:stretch/>
        </p:blipFill>
        <p:spPr>
          <a:xfrm>
            <a:off x="1871280" y="875880"/>
            <a:ext cx="5401080" cy="426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Picture 4" descr="A collage of x-ray images of a chest&#10;&#10;AI-generated content may be incorrect."/>
          <p:cNvPicPr/>
          <p:nvPr/>
        </p:nvPicPr>
        <p:blipFill>
          <a:blip r:embed="rId2"/>
          <a:stretch/>
        </p:blipFill>
        <p:spPr>
          <a:xfrm>
            <a:off x="2286000" y="858600"/>
            <a:ext cx="4915800" cy="428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3"/>
          <p:cNvSpPr/>
          <p:nvPr/>
        </p:nvSpPr>
        <p:spPr>
          <a:xfrm>
            <a:off x="2286000" y="165240"/>
            <a:ext cx="49158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Motivation 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5"/>
          <p:cNvSpPr/>
          <p:nvPr/>
        </p:nvSpPr>
        <p:spPr>
          <a:xfrm>
            <a:off x="168120" y="925200"/>
            <a:ext cx="8975520" cy="26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Manual analysis of X-rays is time-consuming and prone to human error.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Radiologists experience fatigue → reduced accuracy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Deep learning provides: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5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Rapid screening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5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Consistent predictions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5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Improved sensitivity for COVID detection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457200" indent="-45720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Useful in remote or resource-limited settings.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3"/>
          <p:cNvSpPr/>
          <p:nvPr/>
        </p:nvSpPr>
        <p:spPr>
          <a:xfrm>
            <a:off x="2286000" y="165240"/>
            <a:ext cx="4915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Datasets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168120" y="925200"/>
            <a:ext cx="8975520" cy="37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sng">
                <a:solidFill>
                  <a:srgbClr val="0097a7"/>
                </a:solidFill>
                <a:effectLst/>
                <a:uFillTx/>
                <a:latin typeface="Arial"/>
                <a:hlinkClick r:id="rId1"/>
              </a:rPr>
              <a:t>https://www.kaggle.com/datasets/tawsifurrahman/covid19-radiography-database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Contains 4 classes: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COVID-19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Normal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Viral Pneumonia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Lung Opacity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285840" indent="-285840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Dataset split into: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Training (70%)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Validation (20%)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Testing (10%)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2"/>
          <p:cNvSpPr/>
          <p:nvPr/>
        </p:nvSpPr>
        <p:spPr>
          <a:xfrm>
            <a:off x="2286000" y="151920"/>
            <a:ext cx="4571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Why Xception Model?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5"/>
          <p:cNvSpPr/>
          <p:nvPr/>
        </p:nvSpPr>
        <p:spPr>
          <a:xfrm>
            <a:off x="173520" y="851400"/>
            <a:ext cx="8796960" cy="24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Uses depth wise separable convolutions → highly efficient and accurate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Performs exceptionally well on medical images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Pre-trained on millions of images (ImageNet)Reduces training time and improves generalization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Excellent at capturing: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Lung opacities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Structural patterns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Texture variations associated with COVID-19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2"/>
          <p:cNvSpPr/>
          <p:nvPr/>
        </p:nvSpPr>
        <p:spPr>
          <a:xfrm>
            <a:off x="2286000" y="151920"/>
            <a:ext cx="4571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Why Xception Model?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6" descr="A diagram of green squares&#10;&#10;AI-generated content may be incorrect."/>
          <p:cNvPicPr/>
          <p:nvPr/>
        </p:nvPicPr>
        <p:blipFill>
          <a:blip r:embed="rId1"/>
          <a:stretch/>
        </p:blipFill>
        <p:spPr>
          <a:xfrm>
            <a:off x="914400" y="1049400"/>
            <a:ext cx="7314840" cy="3560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2"/>
          <p:cNvSpPr/>
          <p:nvPr/>
        </p:nvSpPr>
        <p:spPr>
          <a:xfrm>
            <a:off x="2286000" y="151920"/>
            <a:ext cx="4571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R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esults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Picture 3" descr="A black screen with white text&#10;&#10;AI-generated content may be incorrect."/>
          <p:cNvPicPr/>
          <p:nvPr/>
        </p:nvPicPr>
        <p:blipFill>
          <a:blip r:embed="rId1"/>
          <a:stretch/>
        </p:blipFill>
        <p:spPr>
          <a:xfrm>
            <a:off x="173520" y="1049400"/>
            <a:ext cx="5644440" cy="285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Picture 6" descr="A screenshot of a computer screen&#10;&#10;AI-generated content may be incorrect."/>
          <p:cNvPicPr/>
          <p:nvPr/>
        </p:nvPicPr>
        <p:blipFill>
          <a:blip r:embed="rId2"/>
          <a:stretch/>
        </p:blipFill>
        <p:spPr>
          <a:xfrm>
            <a:off x="3837600" y="2177640"/>
            <a:ext cx="5132520" cy="2658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2"/>
          <p:cNvSpPr/>
          <p:nvPr/>
        </p:nvSpPr>
        <p:spPr>
          <a:xfrm>
            <a:off x="2286000" y="151920"/>
            <a:ext cx="4571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Conclusion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173520" y="851400"/>
            <a:ext cx="8796960" cy="35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project demonstrates that deep learning can effectively classify chest X-ray images for COVID-19 diagnosis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Xception-based transfer learning model achieved high accuracy and strong generalization across multiple radiographic classes.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system provides a fast, reliable, and scalable tool to support radiologists in early COVID-19 detection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Automated classification reduces manual workload and minimizes human error in radiographic interpretation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project highlights the potential of AI-driven solutions to improve medical diagnostics, especially during large-scale outbreaks.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3"/>
          <p:cNvSpPr/>
          <p:nvPr/>
        </p:nvSpPr>
        <p:spPr>
          <a:xfrm>
            <a:off x="2030760" y="95760"/>
            <a:ext cx="58687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chemeClr val="accent2"/>
                </a:solidFill>
                <a:effectLst/>
                <a:uFillTx/>
                <a:latin typeface="Cambria"/>
                <a:ea typeface="Arial"/>
              </a:rPr>
              <a:t>           REFERENCES (</a:t>
            </a:r>
            <a:r>
              <a:rPr b="0" i="1" lang="en-US" sz="1400" strike="noStrike" u="none">
                <a:solidFill>
                  <a:schemeClr val="accent2"/>
                </a:solidFill>
                <a:effectLst/>
                <a:uFillTx/>
                <a:latin typeface="Cambria"/>
                <a:ea typeface="Arial"/>
              </a:rPr>
              <a:t>As per IEEE format and must be </a:t>
            </a:r>
            <a:r>
              <a:rPr b="0" i="1" lang="en-IN" sz="1400" strike="noStrike" u="none">
                <a:solidFill>
                  <a:schemeClr val="accent2"/>
                </a:solidFill>
                <a:effectLst/>
                <a:uFillTx/>
                <a:latin typeface="Cambria"/>
                <a:ea typeface="Arial"/>
              </a:rPr>
              <a:t>Numbered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IN" sz="1400" strike="noStrike" u="none">
                <a:solidFill>
                  <a:schemeClr val="accent2"/>
                </a:solidFill>
                <a:effectLst/>
                <a:uFillTx/>
                <a:latin typeface="Cambria"/>
                <a:ea typeface="Arial"/>
              </a:rPr>
              <a:t>   consecutively in order of first mention</a:t>
            </a:r>
            <a:r>
              <a:rPr b="0" lang="en-US" sz="1400" strike="noStrike" u="none">
                <a:solidFill>
                  <a:schemeClr val="accent2"/>
                </a:solidFill>
                <a:effectLst/>
                <a:uFillTx/>
                <a:latin typeface="Cambria"/>
                <a:ea typeface="Arial"/>
              </a:rPr>
              <a:t>) &amp; Annexures / Appendix  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7"/>
          <p:cNvSpPr/>
          <p:nvPr/>
        </p:nvSpPr>
        <p:spPr>
          <a:xfrm>
            <a:off x="181800" y="974160"/>
            <a:ext cx="8779680" cy="369288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T. Rahman et al., “COVID-19 Radiography Database,” Kaggle, 2020. [Online]. Available: </a:t>
            </a:r>
            <a:r>
              <a:rPr b="0" lang="en-IN" sz="1600" strike="noStrike" u="none">
                <a:solidFill>
                  <a:srgbClr val="0097a7"/>
                </a:solidFill>
                <a:effectLst/>
                <a:uFillTx/>
                <a:latin typeface="Arial"/>
                <a:hlinkClick r:id="rId1"/>
              </a:rPr>
              <a:t>https://www.kaggle.com/datasets/tawsifurrahman/covid19-radiography-database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F. Chollet, “Xception: Deep Learning with Depthwise Separable Convolutions,” in Proc. IEEE Conf. Comput. Vis. Pattern Recognit. (CVPR), 2017, pp. 1251–1258.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A. Krizhevsky, I. Sutskever, and G. E. Hinton, “ImageNet Classification with Deep Convolutional Neural Networks,” Commun. ACM, vol. 60, no. 6, pp. 84–90, 2017.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S. Minaee et al., “Deep-COVID: Predicting COVID-19 from Chest X-Ray Images Using Deep Transfer Learning,” Med. Image Anal., vol. 65, p. 101794, 2020.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L. Wang, Z. Q. Lin, and A. Wong, “COVID-Net: A Tailored Deep Convolutional Neural Network Design for Detection of COVID-19 Cases from Chest X-ray Images,” Sci. Rep., vol. 10, pp. 1–12, Aug. 2020.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 K. Sethy and S. K. Behera, “Detection of Coronavirus Disease (COVID-19) Based on Deep Features,” Preprint, Mar. 2020. [Online]. Available: https://doi.org/10.13140/RG.2.2.21946.93125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1080</TotalTime>
  <Application>LibreOffice/25.8.3.2$Linux_X86_64 LibreOffice_project/580$Build-2</Application>
  <AppVersion>15.0000</AppVersion>
  <Words>1194</Words>
  <Paragraphs>101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dc:description/>
  <dc:language>en-US</dc:language>
  <cp:lastModifiedBy/>
  <dcterms:modified xsi:type="dcterms:W3CDTF">2025-12-09T19:55:42Z</dcterms:modified>
  <cp:revision>34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