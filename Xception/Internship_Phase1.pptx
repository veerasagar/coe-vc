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8"/>
  </p:notesMasterIdLst>
  <p:sldIdLst>
    <p:sldId id="256" r:id="rId2"/>
    <p:sldId id="257" r:id="rId3"/>
    <p:sldId id="258" r:id="rId4"/>
    <p:sldId id="274" r:id="rId5"/>
    <p:sldId id="259" r:id="rId6"/>
    <p:sldId id="267" r:id="rId7"/>
    <p:sldId id="269" r:id="rId8"/>
    <p:sldId id="262" r:id="rId9"/>
    <p:sldId id="279" r:id="rId10"/>
    <p:sldId id="277" r:id="rId11"/>
    <p:sldId id="278" r:id="rId12"/>
    <p:sldId id="265" r:id="rId13"/>
    <p:sldId id="280" r:id="rId14"/>
    <p:sldId id="282" r:id="rId15"/>
    <p:sldId id="283" r:id="rId16"/>
    <p:sldId id="264" r:id="rId1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3969" autoAdjust="0"/>
  </p:normalViewPr>
  <p:slideViewPr>
    <p:cSldViewPr snapToGrid="0">
      <p:cViewPr varScale="1">
        <p:scale>
          <a:sx n="79" d="100"/>
          <a:sy n="79" d="100"/>
        </p:scale>
        <p:origin x="108" y="123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3d66680d4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3d66680d4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FF2E4087-34D0-E5A1-9ECE-EE4DC0673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3d66680d41_0_5:notes">
            <a:extLst>
              <a:ext uri="{FF2B5EF4-FFF2-40B4-BE49-F238E27FC236}">
                <a16:creationId xmlns:a16="http://schemas.microsoft.com/office/drawing/2014/main" id="{E63B6891-623D-2DFA-730D-AC1D3CDAFA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3d66680d41_0_5:notes">
            <a:extLst>
              <a:ext uri="{FF2B5EF4-FFF2-40B4-BE49-F238E27FC236}">
                <a16:creationId xmlns:a16="http://schemas.microsoft.com/office/drawing/2014/main" id="{9C9ECA73-8CD3-98F8-D64F-BF94CB25EA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3168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3d66680d41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3d66680d41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BB61AB7-0F58-96EF-9BCF-648C26238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09B133AD-CF9A-AF03-1F59-5ADABC9410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4B1EB55B-BBA9-3B69-BF3D-404849F032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096182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1B69B1F3-0C76-EDBE-E90C-642EB0AAA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18972012-DAA6-83F0-8D6D-E9D6807AB7E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71705AF1-49A8-29D9-A441-5B9D08553E8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002673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5F264972-0EC0-7C25-EF27-A4C3B7DEEC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9265EE31-F4C0-9D15-8A6A-11A7D8D5C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50928FD8-89BD-A92A-69AD-A26FAE201E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27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B57052A1-2B1D-8CF3-76BA-14BD9EE49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24642E97-97F6-8C87-EE0A-E41080B752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75881A18-85AF-7A18-FB30-FD6E029118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6100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C39FFCDE-8230-07DA-F4D0-C30E4F783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C99224A8-15D8-2232-1C64-19C2CECDAF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D72C5FA7-2525-C856-0398-785CE1AFE7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69224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8338D25C-AE65-5FBB-C17A-60F855B31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AE23DB03-C686-F00A-B929-66B63B92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E919740C-BAD0-6EB5-970D-E614370FCE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8368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7FB4A6E2-E8A9-F568-AE5D-AE56DB411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6556F4D9-11E4-973B-FCC1-4C1E00A710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A9D73DAF-AA53-319D-4981-198195B4A88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500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3FF17AA4-5336-30F3-DB23-AED7503DF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74BD0FB6-F6DA-5FED-D14E-081D10622F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4AE5BE4C-2A95-F7CF-D6D9-7130A1ED24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75416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>
          <a:extLst>
            <a:ext uri="{FF2B5EF4-FFF2-40B4-BE49-F238E27FC236}">
              <a16:creationId xmlns:a16="http://schemas.microsoft.com/office/drawing/2014/main" id="{AEEC025A-114D-049E-4A9F-121746FE7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3d66680d41_0_20:notes">
            <a:extLst>
              <a:ext uri="{FF2B5EF4-FFF2-40B4-BE49-F238E27FC236}">
                <a16:creationId xmlns:a16="http://schemas.microsoft.com/office/drawing/2014/main" id="{7AACF52D-5BCB-3866-1A62-A1E5BE849E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3d66680d41_0_20:notes">
            <a:extLst>
              <a:ext uri="{FF2B5EF4-FFF2-40B4-BE49-F238E27FC236}">
                <a16:creationId xmlns:a16="http://schemas.microsoft.com/office/drawing/2014/main" id="{A0593A52-4EA8-7036-6166-AFBA50EF166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28935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391725" y="9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253250" y="18575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83600" y="415175"/>
            <a:ext cx="1974051" cy="30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3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63213" y="4730051"/>
            <a:ext cx="2217574" cy="3372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551013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2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91725" y="776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068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16000" y="216000"/>
            <a:ext cx="1507681" cy="647999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tawsifurrahman/covid19-radiography-database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tawsifurrahman/covid19-radiography-database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4">
            <a:extLst>
              <a:ext uri="{FF2B5EF4-FFF2-40B4-BE49-F238E27FC236}">
                <a16:creationId xmlns:a16="http://schemas.microsoft.com/office/drawing/2014/main" id="{52F5642A-CBAD-6EE0-2796-D807106F41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7136" y="720168"/>
            <a:ext cx="788152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altLang="en-US" sz="2000" dirty="0">
                <a:cs typeface="Times New Roman" panose="02020603050405020304" pitchFamily="18" charset="0"/>
              </a:rPr>
              <a:t>Internship Review -I : MCE434N</a:t>
            </a:r>
          </a:p>
          <a:p>
            <a:pPr algn="ctr">
              <a:spcBef>
                <a:spcPct val="0"/>
              </a:spcBef>
              <a:buFontTx/>
              <a:buNone/>
              <a:defRPr/>
            </a:pPr>
            <a:endParaRPr lang="en-US" altLang="en-US" sz="2000" dirty="0">
              <a:cs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  <a:defRPr/>
            </a:pPr>
            <a:r>
              <a:rPr lang="en-US" sz="2000" b="1" dirty="0" err="1">
                <a:ea typeface="Calibri" panose="020F0502020204030204" pitchFamily="34" charset="0"/>
              </a:rPr>
              <a:t>Xception</a:t>
            </a:r>
            <a:r>
              <a:rPr lang="en-US" sz="2000" b="1" dirty="0">
                <a:ea typeface="Calibri" panose="020F0502020204030204" pitchFamily="34" charset="0"/>
              </a:rPr>
              <a:t>-Powered Deep Neural Network for  Radiographic Analysis</a:t>
            </a:r>
            <a:r>
              <a:rPr lang="en-US" altLang="en-US" sz="4000" dirty="0">
                <a:latin typeface="Cambria" panose="02040503050406030204" pitchFamily="18" charset="0"/>
                <a:cs typeface="Arial" panose="020B0604020202020204" pitchFamily="34" charset="0"/>
              </a:rPr>
              <a:t>                            </a:t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60C1A9E8-6E16-E2D0-7D46-FE5CC88DA4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0419" y="2206467"/>
            <a:ext cx="7728246" cy="187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5198" rIns="0" bIns="0">
            <a:spAutoFit/>
          </a:bodyPr>
          <a:lstStyle>
            <a:lvl1pPr marL="127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35147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Veerasagar S S</a:t>
            </a:r>
          </a:p>
          <a:p>
            <a:pPr algn="ctr"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1RV24SCS17</a:t>
            </a:r>
          </a:p>
          <a:p>
            <a:pPr algn="ctr">
              <a:defRPr/>
            </a:pP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Centre of Competence in Visual Computing</a:t>
            </a:r>
          </a:p>
          <a:p>
            <a:pPr algn="ctr">
              <a:defRPr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altLang="en-US" sz="1600" kern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</a:t>
            </a:r>
          </a:p>
          <a:p>
            <a:pPr>
              <a:defRPr/>
            </a:pPr>
            <a:endParaRPr lang="en-US" altLang="en-US" sz="16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851E1B-EEFF-8D74-1E7D-FF9080F4E1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11613009"/>
              </p:ext>
            </p:extLst>
          </p:nvPr>
        </p:nvGraphicFramePr>
        <p:xfrm>
          <a:off x="244698" y="3490139"/>
          <a:ext cx="8654604" cy="131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27302">
                  <a:extLst>
                    <a:ext uri="{9D8B030D-6E8A-4147-A177-3AD203B41FA5}">
                      <a16:colId xmlns:a16="http://schemas.microsoft.com/office/drawing/2014/main" val="2055264489"/>
                    </a:ext>
                  </a:extLst>
                </a:gridCol>
                <a:gridCol w="4327302">
                  <a:extLst>
                    <a:ext uri="{9D8B030D-6E8A-4147-A177-3AD203B41FA5}">
                      <a16:colId xmlns:a16="http://schemas.microsoft.com/office/drawing/2014/main" val="3215482928"/>
                    </a:ext>
                  </a:extLst>
                </a:gridCol>
              </a:tblGrid>
              <a:tr h="601432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Internal Guide Name: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Soumya A</a:t>
                      </a: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Designation: Professor 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Organization: R. V. College Of Engineering</a:t>
                      </a:r>
                    </a:p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External Guide Name: 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M S Srividya</a:t>
                      </a:r>
                    </a:p>
                    <a:p>
                      <a:pPr algn="ctr"/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Designation: Professor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Organization : R. V. College Of Engineering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916082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4B67595-1B51-83EF-7FC9-827056031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8444" y="684587"/>
            <a:ext cx="7645705" cy="435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698500" indent="-6858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8416925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Tx/>
              <a:buChar char="•"/>
            </a:pPr>
            <a:r>
              <a:rPr lang="en-US" alt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about the Internship</a:t>
            </a:r>
          </a:p>
          <a:p>
            <a:pPr>
              <a:buFontTx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and Organizational Understanding</a:t>
            </a:r>
          </a:p>
          <a:p>
            <a:pPr marL="1200150" lvl="3" indent="-285750">
              <a:buFont typeface="Arial" panose="020B0604020202020204" pitchFamily="34" charset="0"/>
              <a:buChar char="•"/>
            </a:pPr>
            <a:r>
              <a:rPr lang="en-IN" dirty="0"/>
              <a:t>Workplace Description</a:t>
            </a:r>
          </a:p>
          <a:p>
            <a:pPr marL="1200150" lvl="3" indent="-285750">
              <a:buFont typeface="Arial" panose="020B0604020202020204" pitchFamily="34" charset="0"/>
              <a:buChar char="•"/>
            </a:pPr>
            <a:r>
              <a:rPr lang="en-IN" dirty="0"/>
              <a:t>Product/Service Knowledge,   Organizational Concepts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Communication, Research, Teamwork, and Leadership </a:t>
            </a:r>
          </a:p>
          <a:p>
            <a:pPr lvl="2">
              <a:buFontTx/>
              <a:buChar char="•"/>
            </a:pPr>
            <a:r>
              <a:rPr lang="en-IN" dirty="0"/>
              <a:t>Writing &amp; Oral Communication,   Research &amp; Technology Use </a:t>
            </a:r>
          </a:p>
          <a:p>
            <a:pPr lvl="2">
              <a:buFontTx/>
              <a:buChar char="•"/>
            </a:pPr>
            <a:r>
              <a:rPr lang="en-IN" dirty="0"/>
              <a:t>Teamwork ,         Leadership</a:t>
            </a:r>
            <a:endParaRPr lang="en-IN" b="1" dirty="0"/>
          </a:p>
          <a:p>
            <a:pPr>
              <a:buFontTx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Order Thinking and Ethical Problem Solving  </a:t>
            </a:r>
          </a:p>
          <a:p>
            <a:pPr lvl="2">
              <a:buFontTx/>
              <a:buChar char="•"/>
            </a:pPr>
            <a:r>
              <a:rPr lang="en-IN" dirty="0"/>
              <a:t>Critical Thinking,       Problem Solving </a:t>
            </a:r>
          </a:p>
          <a:p>
            <a:pPr lvl="2">
              <a:buFontTx/>
              <a:buChar char="•"/>
            </a:pPr>
            <a:r>
              <a:rPr lang="en-IN" dirty="0"/>
              <a:t>Synthesis &amp; Evaluation,    Ethical Standards</a:t>
            </a:r>
          </a:p>
          <a:p>
            <a:pPr>
              <a:buFontTx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Program-Specific Skills and Tool Application  </a:t>
            </a:r>
          </a:p>
          <a:p>
            <a:pPr lvl="2">
              <a:buFontTx/>
              <a:buChar char="•"/>
            </a:pPr>
            <a:r>
              <a:rPr lang="en-IN" dirty="0"/>
              <a:t>Technical Competency </a:t>
            </a:r>
          </a:p>
          <a:p>
            <a:pPr lvl="2">
              <a:buFontTx/>
              <a:buChar char="•"/>
            </a:pPr>
            <a:r>
              <a:rPr lang="en-IN" dirty="0"/>
              <a:t>Knowledge Application </a:t>
            </a:r>
          </a:p>
          <a:p>
            <a:pPr lvl="2">
              <a:buFontTx/>
              <a:buChar char="•"/>
            </a:pPr>
            <a:r>
              <a:rPr lang="en-IN" dirty="0"/>
              <a:t>Innovation &amp; Creativity </a:t>
            </a:r>
          </a:p>
          <a:p>
            <a:pPr lvl="2">
              <a:buFontTx/>
              <a:buChar char="•"/>
            </a:pPr>
            <a:r>
              <a:rPr lang="en-IN" dirty="0"/>
              <a:t>Relevance to Specialization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Tx/>
              <a:buChar char="•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object 9">
            <a:extLst>
              <a:ext uri="{FF2B5EF4-FFF2-40B4-BE49-F238E27FC236}">
                <a16:creationId xmlns:a16="http://schemas.microsoft.com/office/drawing/2014/main" id="{1C6535F3-EE55-3BB0-8314-AEE11BB14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874" y="210473"/>
            <a:ext cx="4610750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6483350" algn="l"/>
              </a:tabLs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ts val="10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PRESENTATION CONTENTS</a:t>
            </a:r>
            <a:endParaRPr lang="en-US" altLang="en-US" sz="4900" dirty="0">
              <a:solidFill>
                <a:srgbClr val="005893"/>
              </a:solidFill>
              <a:latin typeface="Playfair Display" panose="00000500000000000000" pitchFamily="2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F2E7B7E9-21CB-4681-BDA3-90D7F3F4E9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0978" y="361526"/>
            <a:ext cx="4105141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about the Internship</a:t>
            </a:r>
            <a:endParaRPr lang="en-US" alt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E2881D04-D7F2-B316-740F-8B52ABA6CD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814" y="1214799"/>
            <a:ext cx="8632371" cy="28884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program begins with foundational topics such as </a:t>
            </a:r>
            <a:r>
              <a:rPr lang="en-US" sz="1600" b="1" dirty="0"/>
              <a:t>Python programming</a:t>
            </a:r>
            <a:r>
              <a:rPr lang="en-US" sz="1600" dirty="0"/>
              <a:t>, emphasizing libraries like NumPy, Pandas, Matplotlib, and Seaborn for data handling and visualization.</a:t>
            </a: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We then explore </a:t>
            </a:r>
            <a:r>
              <a:rPr lang="en-US" sz="1600" b="1" dirty="0"/>
              <a:t>data analytics</a:t>
            </a:r>
            <a:r>
              <a:rPr lang="en-US" sz="1600" dirty="0"/>
              <a:t> using tools like </a:t>
            </a:r>
            <a:r>
              <a:rPr lang="en-US" sz="1600" b="1" dirty="0"/>
              <a:t>Tableau, Power BI, and R</a:t>
            </a:r>
            <a:r>
              <a:rPr lang="en-US" sz="1600" dirty="0"/>
              <a:t>, followed by </a:t>
            </a:r>
            <a:r>
              <a:rPr lang="en-US" sz="1600" b="1" dirty="0"/>
              <a:t>image processing with OpenCV</a:t>
            </a:r>
            <a:r>
              <a:rPr lang="en-US" sz="1600" dirty="0"/>
              <a:t>.</a:t>
            </a:r>
          </a:p>
          <a:p>
            <a:pPr marL="285750" indent="-2857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Building on these fundamentals, the next phase introduces </a:t>
            </a:r>
            <a:r>
              <a:rPr lang="en-US" sz="1600" b="1" dirty="0"/>
              <a:t>machine learning concepts</a:t>
            </a:r>
            <a:r>
              <a:rPr lang="en-US" sz="1600" dirty="0"/>
              <a:t> including linear and logistic regression, supervised learning algorithms like Decision Trees, KNN, and unsupervised learning through K-means clustering.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C1D2845-776C-9FDF-1BC2-29B61C424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BFBE6B3E-DE6D-CEC0-2529-0AA806B2EA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0978" y="361526"/>
            <a:ext cx="4105141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about the Internship</a:t>
            </a:r>
            <a:endParaRPr lang="en-US" alt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F6537FD-E3E7-F113-F4F6-2B848B3E56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814" y="1373377"/>
            <a:ext cx="8632371" cy="23967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1" indent="-2857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internship advances into </a:t>
            </a:r>
            <a:r>
              <a:rPr lang="en-US" sz="1600" b="1" dirty="0"/>
              <a:t>neural networks</a:t>
            </a:r>
            <a:r>
              <a:rPr lang="en-US" sz="1600" dirty="0"/>
              <a:t> and their variants (CNN, RNN), </a:t>
            </a:r>
            <a:r>
              <a:rPr lang="en-US" sz="1600" b="1" dirty="0"/>
              <a:t>ensemble learning</a:t>
            </a:r>
            <a:r>
              <a:rPr lang="en-US" sz="1600" dirty="0"/>
              <a:t>, and </a:t>
            </a:r>
            <a:r>
              <a:rPr lang="en-US" sz="1600" b="1" dirty="0"/>
              <a:t>transformer models</a:t>
            </a:r>
            <a:r>
              <a:rPr lang="en-US" sz="1600" dirty="0"/>
              <a:t> for advanced visual computing applications. </a:t>
            </a:r>
          </a:p>
          <a:p>
            <a:pPr marL="285750" lvl="1" indent="-285750" algn="just">
              <a:lnSpc>
                <a:spcPct val="150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sz="1600" dirty="0"/>
              <a:t>The final modules focus on </a:t>
            </a:r>
            <a:r>
              <a:rPr lang="en-US" sz="1600" b="1" dirty="0"/>
              <a:t>LLMs and Generative AI tools</a:t>
            </a:r>
            <a:r>
              <a:rPr lang="en-US" sz="1600" dirty="0"/>
              <a:t>, literature exploration, algorithm selection, dataset analysis, implementation, and project presentation ensuring participants gain both theoretical understanding and practical project-based expertise in visual computing.</a:t>
            </a:r>
            <a:endParaRPr lang="en-IN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867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8">
            <a:extLst>
              <a:ext uri="{FF2B5EF4-FFF2-40B4-BE49-F238E27FC236}">
                <a16:creationId xmlns:a16="http://schemas.microsoft.com/office/drawing/2014/main" id="{B1C6201D-91E0-7567-93DE-89237FBBD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93356" y="334727"/>
            <a:ext cx="5157285" cy="319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12065" rIns="0" bIns="0">
            <a:spAutoFit/>
          </a:bodyPr>
          <a:lstStyle>
            <a:lvl1pPr marL="127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Exploration and Organizational Understanding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5EAD5DA-5BF1-2E7A-6B85-7D42DA659CCC}"/>
              </a:ext>
            </a:extLst>
          </p:cNvPr>
          <p:cNvSpPr txBox="1"/>
          <p:nvPr/>
        </p:nvSpPr>
        <p:spPr>
          <a:xfrm>
            <a:off x="294290" y="1030014"/>
            <a:ext cx="8660524" cy="33720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Industry-Certified Internship Program at RV College of Engineering, Bengaluru emphasizes practical upskilling and career preparedness, aligning with AICTE’s mandate for experiential learning in engineering education.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participate in multidisciplinary, cutting-edge projects under the guidance of expert faculty mentors.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 exposure to various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Centres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Excellence and Competence, participants strengthen their technical, analytical, and research capabilities.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program fosters hands-on learning, professional networking, and transforms students into industry-ready engineers.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7463" y="177354"/>
            <a:ext cx="4253847" cy="726535"/>
          </a:xfrm>
        </p:spPr>
        <p:txBody>
          <a:bodyPr>
            <a:normAutofit fontScale="90000"/>
          </a:bodyPr>
          <a:lstStyle/>
          <a:p>
            <a:pPr algn="ctr"/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Organizational Concepts</a:t>
            </a:r>
            <a:b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0DBD720-DB93-6A02-D5F8-C8616B27097F}"/>
              </a:ext>
            </a:extLst>
          </p:cNvPr>
          <p:cNvSpPr txBox="1"/>
          <p:nvPr/>
        </p:nvSpPr>
        <p:spPr>
          <a:xfrm>
            <a:off x="273270" y="903888"/>
            <a:ext cx="8628992" cy="3371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Python Programming and Image Processing:</a:t>
            </a:r>
            <a:endParaRPr lang="en-US" sz="1600" dirty="0"/>
          </a:p>
          <a:p>
            <a:pPr marL="285750" lvl="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This module provides a strong foundation in Python programming, emphasizing its powerful libraries such as </a:t>
            </a:r>
            <a:r>
              <a:rPr lang="en-US" sz="1600" b="1" dirty="0"/>
              <a:t>NumPy</a:t>
            </a:r>
            <a:r>
              <a:rPr lang="en-US" sz="1600" dirty="0"/>
              <a:t>, </a:t>
            </a:r>
            <a:r>
              <a:rPr lang="en-US" sz="1600" b="1" dirty="0"/>
              <a:t>Pandas</a:t>
            </a:r>
            <a:r>
              <a:rPr lang="en-US" sz="1600" dirty="0"/>
              <a:t>, </a:t>
            </a:r>
            <a:r>
              <a:rPr lang="en-US" sz="1600" b="1" dirty="0"/>
              <a:t>Matplotlib</a:t>
            </a:r>
            <a:r>
              <a:rPr lang="en-US" sz="1600" dirty="0"/>
              <a:t>, and </a:t>
            </a:r>
            <a:r>
              <a:rPr lang="en-US" sz="1600" b="1" dirty="0"/>
              <a:t>Seaborn</a:t>
            </a:r>
            <a:r>
              <a:rPr lang="en-US" sz="1600" dirty="0"/>
              <a:t> for efficient data handling, analysis, and visualization. </a:t>
            </a:r>
          </a:p>
          <a:p>
            <a:pPr marL="285750" lvl="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It also introduces </a:t>
            </a:r>
            <a:r>
              <a:rPr lang="en-US" sz="1600" b="1" dirty="0"/>
              <a:t>OpenCV</a:t>
            </a:r>
            <a:r>
              <a:rPr lang="en-US" sz="1600" dirty="0"/>
              <a:t>, a widely used computer vision library, enabling students to perform hands-on </a:t>
            </a:r>
            <a:r>
              <a:rPr lang="en-US" sz="1600" b="1" dirty="0"/>
              <a:t>image processing tasks</a:t>
            </a:r>
            <a:r>
              <a:rPr lang="en-US" sz="1600" dirty="0"/>
              <a:t> like filtering, edge detection, and feature extraction. </a:t>
            </a:r>
          </a:p>
          <a:p>
            <a:pPr marL="285750" lvl="6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Through practical sessions, learners gain the skills to manipulate and analyze visual data, preparing them for advanced topics in machine learning and visual computing.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3296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156D09E-8B3C-2A10-D4D1-F3197A42F0E1}"/>
              </a:ext>
            </a:extLst>
          </p:cNvPr>
          <p:cNvSpPr txBox="1"/>
          <p:nvPr/>
        </p:nvSpPr>
        <p:spPr>
          <a:xfrm>
            <a:off x="391725" y="1019503"/>
            <a:ext cx="8226758" cy="3739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  <a:latin typeface="+mn-lt"/>
                <a:cs typeface="Times New Roman" panose="02020603050405020304" pitchFamily="18" charset="0"/>
              </a:rPr>
              <a:t>Teamwork - 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Collaboration and teamwork were integral to the learning experience, involving close coordination with multiple domains to design and validate model.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n-lt"/>
                <a:cs typeface="Times New Roman" panose="02020603050405020304" pitchFamily="18" charset="0"/>
              </a:rPr>
              <a:t>Critical Thinking - 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Applied critical thinking skills to analyze and resolve complex error within the model, ensuring accurate and precise model output.</a:t>
            </a:r>
          </a:p>
          <a:p>
            <a:pPr marL="285750" lvl="3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600" dirty="0">
                <a:latin typeface="+mn-lt"/>
                <a:cs typeface="Times New Roman" panose="02020603050405020304" pitchFamily="18" charset="0"/>
              </a:rPr>
              <a:t>Problem Solving - 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Contributed to problem-solving initiatives by developing and implementing time-bound access roles, enabling users to obtain temporary permissions for specific tasks.</a:t>
            </a:r>
          </a:p>
          <a:p>
            <a:pPr marL="2857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  <a:cs typeface="Times New Roman" panose="02020603050405020304" pitchFamily="18" charset="0"/>
              </a:rPr>
              <a:t>Synthesis and Evaluation of Machine Learning Models </a:t>
            </a:r>
            <a:r>
              <a:rPr lang="en-US" sz="1600" b="1" dirty="0">
                <a:latin typeface="+mn-lt"/>
                <a:cs typeface="Times New Roman" panose="02020603050405020304" pitchFamily="18" charset="0"/>
              </a:rPr>
              <a:t>- </a:t>
            </a:r>
            <a:r>
              <a:rPr lang="en-US" sz="1600" dirty="0">
                <a:latin typeface="+mn-lt"/>
                <a:cs typeface="Times New Roman" panose="02020603050405020304" pitchFamily="18" charset="0"/>
              </a:rPr>
              <a:t>This stage focuses on integrating the developed machine learning models and rigorously evaluating their performance.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92B561F-FC61-0C8F-C21D-4E46A5564A69}"/>
              </a:ext>
            </a:extLst>
          </p:cNvPr>
          <p:cNvSpPr txBox="1"/>
          <p:nvPr/>
        </p:nvSpPr>
        <p:spPr>
          <a:xfrm>
            <a:off x="1817083" y="323772"/>
            <a:ext cx="5376041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Communication, Research, Teamwork, and Leadership </a:t>
            </a:r>
          </a:p>
        </p:txBody>
      </p:sp>
    </p:spTree>
    <p:extLst>
      <p:ext uri="{BB962C8B-B14F-4D97-AF65-F5344CB8AC3E}">
        <p14:creationId xmlns:p14="http://schemas.microsoft.com/office/powerpoint/2010/main" val="2148416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303D71C0-83E8-CD31-C4F0-1A56EA2A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6AD8E5-B649-4AAE-5C5D-7CAA93055127}"/>
              </a:ext>
            </a:extLst>
          </p:cNvPr>
          <p:cNvSpPr txBox="1"/>
          <p:nvPr/>
        </p:nvSpPr>
        <p:spPr>
          <a:xfrm>
            <a:off x="2286000" y="165088"/>
            <a:ext cx="4916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Program-Specific Skills and Tool Application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AC7B0B-5805-CA22-0706-FFFBE8D78DBA}"/>
              </a:ext>
            </a:extLst>
          </p:cNvPr>
          <p:cNvSpPr txBox="1"/>
          <p:nvPr/>
        </p:nvSpPr>
        <p:spPr>
          <a:xfrm>
            <a:off x="168165" y="872359"/>
            <a:ext cx="8807669" cy="30013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This project uses </a:t>
            </a:r>
            <a:r>
              <a:rPr lang="en-US" sz="1600" b="1" dirty="0"/>
              <a:t>deep learning and transfer learning</a:t>
            </a:r>
            <a:r>
              <a:rPr lang="en-US" sz="1600" dirty="0"/>
              <a:t>, specifically the </a:t>
            </a:r>
            <a:r>
              <a:rPr lang="en-US" sz="1600" b="1" dirty="0" err="1"/>
              <a:t>Xception</a:t>
            </a:r>
            <a:r>
              <a:rPr lang="en-US" sz="1600" b="1" dirty="0"/>
              <a:t> model</a:t>
            </a:r>
            <a:r>
              <a:rPr lang="en-US" sz="1600" dirty="0"/>
              <a:t>, to automatically classify chest X-ray images into categories such as COVID-19, Normal, and Pneumonia. By leveraging advanced image-processing techniques and pre-trained neural networks, the system aims to improve diagnostic accuracy, reduce human error, and assist medical professionals in early disease detection.</a:t>
            </a:r>
            <a:endParaRPr lang="en-US" sz="1600" dirty="0">
              <a:latin typeface="+mn-lt"/>
              <a:cs typeface="Times New Roman" panose="02020603050405020304" pitchFamily="18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+mn-lt"/>
                <a:cs typeface="Times New Roman" panose="02020603050405020304" pitchFamily="18" charset="0"/>
              </a:rPr>
              <a:t>Problem statement</a:t>
            </a:r>
          </a:p>
          <a:p>
            <a:pPr lvl="3" algn="just">
              <a:lnSpc>
                <a:spcPct val="150000"/>
              </a:lnSpc>
            </a:pPr>
            <a:r>
              <a:rPr lang="en-US" sz="1600" dirty="0"/>
              <a:t>“Develop a deep learning model using transfer learning to accurately classify COVID-19 radiography images while handling data imbalance and improving diagnostic reliability.”</a:t>
            </a:r>
            <a:endParaRPr lang="en-US" sz="1600" dirty="0">
              <a:latin typeface="+mn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74261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A471A3FD-ED0B-501F-4B1C-95432863F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BC6394F-CBF5-ECB6-8602-7AC22F8E932E}"/>
              </a:ext>
            </a:extLst>
          </p:cNvPr>
          <p:cNvSpPr txBox="1"/>
          <p:nvPr/>
        </p:nvSpPr>
        <p:spPr>
          <a:xfrm>
            <a:off x="2286000" y="165088"/>
            <a:ext cx="4916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Program-Specific Skills and Tool Application  </a:t>
            </a:r>
          </a:p>
        </p:txBody>
      </p:sp>
      <p:pic>
        <p:nvPicPr>
          <p:cNvPr id="3" name="Picture 2" descr="A collage of cells with different colors&#10;&#10;AI-generated content may be incorrect.">
            <a:extLst>
              <a:ext uri="{FF2B5EF4-FFF2-40B4-BE49-F238E27FC236}">
                <a16:creationId xmlns:a16="http://schemas.microsoft.com/office/drawing/2014/main" id="{FDCF2652-A177-67BC-7D0C-5934F9EA3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1284" y="875704"/>
            <a:ext cx="5401429" cy="4267796"/>
          </a:xfrm>
          <a:prstGeom prst="rect">
            <a:avLst/>
          </a:prstGeom>
        </p:spPr>
      </p:pic>
      <p:pic>
        <p:nvPicPr>
          <p:cNvPr id="5" name="Picture 4" descr="A collage of x-ray images of a chest&#10;&#10;AI-generated content may be incorrect.">
            <a:extLst>
              <a:ext uri="{FF2B5EF4-FFF2-40B4-BE49-F238E27FC236}">
                <a16:creationId xmlns:a16="http://schemas.microsoft.com/office/drawing/2014/main" id="{6E048FA3-C513-4126-73D0-032DC538CA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858708"/>
            <a:ext cx="4916078" cy="428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472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449478E-8DFF-F239-D390-29FA17E5A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942A693-2805-5525-DE08-2C926CAD945A}"/>
              </a:ext>
            </a:extLst>
          </p:cNvPr>
          <p:cNvSpPr txBox="1"/>
          <p:nvPr/>
        </p:nvSpPr>
        <p:spPr>
          <a:xfrm>
            <a:off x="2286000" y="165088"/>
            <a:ext cx="4916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Program-Specific Skills and Tool Application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FFB360-A479-412B-7F8C-6F4D1656551C}"/>
              </a:ext>
            </a:extLst>
          </p:cNvPr>
          <p:cNvSpPr txBox="1"/>
          <p:nvPr/>
        </p:nvSpPr>
        <p:spPr>
          <a:xfrm>
            <a:off x="168165" y="925145"/>
            <a:ext cx="8975835" cy="26320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0" lvl="0" indent="-45720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Manual analysis of X-rays is time-consuming and prone to human error.</a:t>
            </a:r>
          </a:p>
          <a:p>
            <a:pPr marL="457200" marR="0" lvl="0" indent="-45720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Radiologists experience fatigue → reduced accuracy</a:t>
            </a:r>
          </a:p>
          <a:p>
            <a:pPr marL="457200" marR="0" lvl="0" indent="-457200" algn="just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Deep learning provides:</a:t>
            </a:r>
          </a:p>
          <a:p>
            <a:pPr lvl="5" algn="just" defTabSz="457200">
              <a:lnSpc>
                <a:spcPct val="150000"/>
              </a:lnSpc>
              <a:buClrTx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Rapid screening</a:t>
            </a:r>
          </a:p>
          <a:p>
            <a:pPr lvl="5" algn="just" defTabSz="457200">
              <a:lnSpc>
                <a:spcPct val="150000"/>
              </a:lnSpc>
              <a:buClrTx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Consistent predictions</a:t>
            </a:r>
          </a:p>
          <a:p>
            <a:pPr lvl="5" algn="just" defTabSz="457200">
              <a:lnSpc>
                <a:spcPct val="150000"/>
              </a:lnSpc>
              <a:buClrTx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Improved sensitivity for COVID detection</a:t>
            </a:r>
          </a:p>
          <a:p>
            <a:pPr marL="457200" lvl="2" indent="-457200" algn="just" defTabSz="457200">
              <a:lnSpc>
                <a:spcPct val="15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Useful in remote or resource-limited settings.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243951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516E8C46-B13A-70D6-3C7C-A443700F3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5B0EBC7-A533-FBCB-35F9-B07A3B075069}"/>
              </a:ext>
            </a:extLst>
          </p:cNvPr>
          <p:cNvSpPr txBox="1"/>
          <p:nvPr/>
        </p:nvSpPr>
        <p:spPr>
          <a:xfrm>
            <a:off x="2286000" y="165088"/>
            <a:ext cx="49160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987166-25D4-4D80-B2A2-9A5E1B88D8CF}"/>
              </a:ext>
            </a:extLst>
          </p:cNvPr>
          <p:cNvSpPr txBox="1"/>
          <p:nvPr/>
        </p:nvSpPr>
        <p:spPr>
          <a:xfrm>
            <a:off x="168165" y="925145"/>
            <a:ext cx="8975835" cy="3739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lvl="0" indent="-457200" defTabSz="457200">
              <a:lnSpc>
                <a:spcPct val="15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lang="en-US" sz="1600" kern="1200" dirty="0">
                <a:latin typeface="+mn-lt"/>
                <a:ea typeface="+mn-ea"/>
                <a:cs typeface="+mn-cs"/>
                <a:hlinkClick r:id="rId3"/>
              </a:rPr>
              <a:t>https://www.kaggle.com/datasets/tawsifurrahman/covid19-radiography-database</a:t>
            </a:r>
            <a:endParaRPr lang="en-US" sz="1600" kern="1200" dirty="0">
              <a:latin typeface="+mn-lt"/>
              <a:ea typeface="+mn-ea"/>
              <a:cs typeface="+mn-cs"/>
            </a:endParaRPr>
          </a:p>
          <a:p>
            <a:pPr marL="457200" lvl="0" indent="-457200" defTabSz="457200">
              <a:lnSpc>
                <a:spcPct val="15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Contains 4 classes:</a:t>
            </a:r>
          </a:p>
          <a:p>
            <a:pPr lvl="2" defTabSz="457200">
              <a:lnSpc>
                <a:spcPct val="150000"/>
              </a:lnSpc>
              <a:buClrTx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COVID-19</a:t>
            </a:r>
          </a:p>
          <a:p>
            <a:pPr lvl="2" defTabSz="457200">
              <a:lnSpc>
                <a:spcPct val="150000"/>
              </a:lnSpc>
              <a:buClrTx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Normal</a:t>
            </a:r>
          </a:p>
          <a:p>
            <a:pPr lvl="2" defTabSz="457200">
              <a:lnSpc>
                <a:spcPct val="150000"/>
              </a:lnSpc>
              <a:buClrTx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Viral Pneumonia</a:t>
            </a:r>
          </a:p>
          <a:p>
            <a:pPr lvl="2" defTabSz="457200">
              <a:lnSpc>
                <a:spcPct val="150000"/>
              </a:lnSpc>
              <a:buClrTx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	Lung Opacity</a:t>
            </a:r>
          </a:p>
          <a:p>
            <a:pPr marL="285750" lvl="2" indent="-285750" defTabSz="457200">
              <a:lnSpc>
                <a:spcPct val="150000"/>
              </a:lnSpc>
              <a:buClrTx/>
              <a:buFont typeface="Arial" panose="020B0604020202020204" pitchFamily="34" charset="0"/>
              <a:buChar char="•"/>
              <a:defRPr/>
            </a:pP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Dataset split into:</a:t>
            </a:r>
          </a:p>
          <a:p>
            <a:pPr lvl="2" defTabSz="457200">
              <a:lnSpc>
                <a:spcPct val="150000"/>
              </a:lnSpc>
              <a:buClrTx/>
              <a:defRPr/>
            </a:pPr>
            <a:r>
              <a:rPr lang="en-US" sz="1600" kern="1200" dirty="0">
                <a:latin typeface="+mn-lt"/>
                <a:ea typeface="+mn-ea"/>
                <a:cs typeface="+mn-cs"/>
              </a:rPr>
              <a:t>	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Training (70%)</a:t>
            </a:r>
          </a:p>
          <a:p>
            <a:pPr lvl="2" defTabSz="457200">
              <a:lnSpc>
                <a:spcPct val="150000"/>
              </a:lnSpc>
              <a:buClrTx/>
              <a:defRPr/>
            </a:pPr>
            <a:r>
              <a:rPr lang="en-US" sz="1600" kern="1200" dirty="0">
                <a:latin typeface="+mn-lt"/>
                <a:ea typeface="+mn-ea"/>
                <a:cs typeface="+mn-cs"/>
              </a:rPr>
              <a:t>	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Validation (20%)</a:t>
            </a:r>
          </a:p>
          <a:p>
            <a:pPr lvl="2" defTabSz="457200">
              <a:lnSpc>
                <a:spcPct val="150000"/>
              </a:lnSpc>
              <a:buClrTx/>
              <a:defRPr/>
            </a:pPr>
            <a:r>
              <a:rPr lang="en-US" sz="1600" kern="1200" dirty="0">
                <a:latin typeface="+mn-lt"/>
                <a:ea typeface="+mn-ea"/>
                <a:cs typeface="+mn-cs"/>
              </a:rPr>
              <a:t>	</a:t>
            </a:r>
            <a:r>
              <a:rPr kumimoji="0" lang="en-US" sz="16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Testing (10%)</a:t>
            </a:r>
          </a:p>
        </p:txBody>
      </p:sp>
    </p:spTree>
    <p:extLst>
      <p:ext uri="{BB962C8B-B14F-4D97-AF65-F5344CB8AC3E}">
        <p14:creationId xmlns:p14="http://schemas.microsoft.com/office/powerpoint/2010/main" val="2252700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88213C10-07DF-B85C-6A7C-566A3BF24C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E631E5-0C94-6499-B2A9-7D4F3056F819}"/>
              </a:ext>
            </a:extLst>
          </p:cNvPr>
          <p:cNvSpPr txBox="1"/>
          <p:nvPr/>
        </p:nvSpPr>
        <p:spPr>
          <a:xfrm>
            <a:off x="2286000" y="15205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/>
              <a:t>Why </a:t>
            </a:r>
            <a:r>
              <a:rPr lang="en-IN" sz="2000" dirty="0" err="1"/>
              <a:t>Xception</a:t>
            </a:r>
            <a:r>
              <a:rPr lang="en-IN" sz="2000" dirty="0"/>
              <a:t> Model?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D7AC02-B5AD-AA12-D778-A676F5F55C1E}"/>
              </a:ext>
            </a:extLst>
          </p:cNvPr>
          <p:cNvSpPr txBox="1"/>
          <p:nvPr/>
        </p:nvSpPr>
        <p:spPr>
          <a:xfrm>
            <a:off x="173420" y="851337"/>
            <a:ext cx="8797159" cy="24935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Uses depth wise separable convolutions → highly efficient and accurate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Performs exceptionally well on medical images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Pre-trained on millions of images (ImageNet)Reduces training time and improves generalization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Excellent at capturing:</a:t>
            </a:r>
          </a:p>
          <a:p>
            <a:pPr algn="just">
              <a:lnSpc>
                <a:spcPct val="150000"/>
              </a:lnSpc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	Lung opacities</a:t>
            </a:r>
          </a:p>
          <a:p>
            <a:pPr algn="just">
              <a:lnSpc>
                <a:spcPct val="150000"/>
              </a:lnSpc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	Structural patterns</a:t>
            </a:r>
          </a:p>
          <a:p>
            <a:pPr algn="just">
              <a:lnSpc>
                <a:spcPct val="150000"/>
              </a:lnSpc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	Texture variations associated with COVID-19</a:t>
            </a:r>
            <a:r>
              <a:rPr lang="en-IN" sz="1600" dirty="0"/>
              <a:t>.</a:t>
            </a:r>
            <a:endParaRPr lang="en-IN" sz="15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9155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642A0D3E-8403-9558-79E7-697202FF3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F43ABF-6ECB-BF0B-2133-BFA61F3AD439}"/>
              </a:ext>
            </a:extLst>
          </p:cNvPr>
          <p:cNvSpPr txBox="1"/>
          <p:nvPr/>
        </p:nvSpPr>
        <p:spPr>
          <a:xfrm>
            <a:off x="2286000" y="15205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/>
              <a:t>Why </a:t>
            </a:r>
            <a:r>
              <a:rPr lang="en-IN" sz="2000" dirty="0" err="1"/>
              <a:t>Xception</a:t>
            </a:r>
            <a:r>
              <a:rPr lang="en-IN" sz="2000" dirty="0"/>
              <a:t> Model?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diagram of green squares&#10;&#10;AI-generated content may be incorrect.">
            <a:extLst>
              <a:ext uri="{FF2B5EF4-FFF2-40B4-BE49-F238E27FC236}">
                <a16:creationId xmlns:a16="http://schemas.microsoft.com/office/drawing/2014/main" id="{09687329-00D8-85E9-487A-4EB8CDFAC9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1049244"/>
            <a:ext cx="7315200" cy="3561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021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1A04DFE-24E8-EA41-C557-28ACA2D41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2EB63B7-2D47-8FAB-8D35-747FA0BD77AB}"/>
              </a:ext>
            </a:extLst>
          </p:cNvPr>
          <p:cNvSpPr txBox="1"/>
          <p:nvPr/>
        </p:nvSpPr>
        <p:spPr>
          <a:xfrm>
            <a:off x="2286000" y="15205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IN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esults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A black screen with white text&#10;&#10;AI-generated content may be incorrect.">
            <a:extLst>
              <a:ext uri="{FF2B5EF4-FFF2-40B4-BE49-F238E27FC236}">
                <a16:creationId xmlns:a16="http://schemas.microsoft.com/office/drawing/2014/main" id="{7D9F709A-49EA-5ABE-9987-2AF4A89E6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20" y="1049244"/>
            <a:ext cx="5644896" cy="2853336"/>
          </a:xfrm>
          <a:prstGeom prst="rect">
            <a:avLst/>
          </a:prstGeom>
        </p:spPr>
      </p:pic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37ED23EB-2E6B-FF59-D852-ED455AE3E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7624" y="2177634"/>
            <a:ext cx="5132955" cy="265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9354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962DFAAB-A278-E2F2-4EA1-7E489654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8542BD-A02A-3048-F9BB-6A33DB538944}"/>
              </a:ext>
            </a:extLst>
          </p:cNvPr>
          <p:cNvSpPr txBox="1"/>
          <p:nvPr/>
        </p:nvSpPr>
        <p:spPr>
          <a:xfrm>
            <a:off x="2286000" y="152055"/>
            <a:ext cx="4572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/>
              <a:t>Conclusion</a:t>
            </a:r>
            <a:endParaRPr lang="en-I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3B688-A31D-41B8-D13E-BCFE9D1019CD}"/>
              </a:ext>
            </a:extLst>
          </p:cNvPr>
          <p:cNvSpPr txBox="1"/>
          <p:nvPr/>
        </p:nvSpPr>
        <p:spPr>
          <a:xfrm>
            <a:off x="173420" y="851337"/>
            <a:ext cx="8797159" cy="35120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The project demonstrates that deep learning can effectively classify chest X-ray images for COVID-19 diagnosis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The </a:t>
            </a:r>
            <a:r>
              <a:rPr lang="en-US" sz="1500" dirty="0" err="1">
                <a:latin typeface="+mj-lt"/>
                <a:cs typeface="Times New Roman" panose="02020603050405020304" pitchFamily="18" charset="0"/>
              </a:rPr>
              <a:t>Xception</a:t>
            </a:r>
            <a:r>
              <a:rPr lang="en-US" sz="1500" dirty="0">
                <a:latin typeface="+mj-lt"/>
                <a:cs typeface="Times New Roman" panose="02020603050405020304" pitchFamily="18" charset="0"/>
              </a:rPr>
              <a:t>-based transfer learning model achieved high accuracy and strong generalization across multiple radiographic classes.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The system provides a fast, reliable, and scalable tool to support radiologists in early COVID-19 detection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Automated classification reduces manual workload and minimizes human error in radiographic interpretation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500" dirty="0">
                <a:latin typeface="+mj-lt"/>
                <a:cs typeface="Times New Roman" panose="02020603050405020304" pitchFamily="18" charset="0"/>
              </a:rPr>
              <a:t>The project highlights the potential of AI-driven solutions to improve medical diagnostics, especially during large-scale outbreaks.</a:t>
            </a:r>
            <a:endParaRPr lang="en-IN" sz="1500" dirty="0">
              <a:latin typeface="+mj-lt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653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>
          <a:extLst>
            <a:ext uri="{FF2B5EF4-FFF2-40B4-BE49-F238E27FC236}">
              <a16:creationId xmlns:a16="http://schemas.microsoft.com/office/drawing/2014/main" id="{EA875527-519A-EE6C-AC76-00EE724AB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726A4B-30D1-C534-7278-D26E1E0EAFAD}"/>
              </a:ext>
            </a:extLst>
          </p:cNvPr>
          <p:cNvSpPr txBox="1"/>
          <p:nvPr/>
        </p:nvSpPr>
        <p:spPr>
          <a:xfrm>
            <a:off x="2030818" y="95693"/>
            <a:ext cx="586917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altLang="en-US" sz="1400" dirty="0">
                <a:solidFill>
                  <a:schemeClr val="accent2"/>
                </a:solidFill>
                <a:latin typeface="Cambria" panose="02040503050406030204" pitchFamily="18" charset="0"/>
              </a:rPr>
              <a:t>           REFERENCES (</a:t>
            </a:r>
            <a:r>
              <a:rPr lang="en-US" altLang="en-US" sz="1400" i="1" dirty="0">
                <a:solidFill>
                  <a:schemeClr val="accent2"/>
                </a:solidFill>
                <a:latin typeface="Cambria" panose="02040503050406030204" pitchFamily="18" charset="0"/>
              </a:rPr>
              <a:t>As per IEEE format and must be </a:t>
            </a:r>
            <a:r>
              <a:rPr lang="en-IN" altLang="en-US" sz="1400" i="1" dirty="0">
                <a:solidFill>
                  <a:schemeClr val="accent2"/>
                </a:solidFill>
                <a:latin typeface="Cambria" panose="02040503050406030204" pitchFamily="18" charset="0"/>
              </a:rPr>
              <a:t>Numbered </a:t>
            </a:r>
          </a:p>
          <a:p>
            <a:pPr>
              <a:spcBef>
                <a:spcPct val="0"/>
              </a:spcBef>
            </a:pPr>
            <a:r>
              <a:rPr lang="en-IN" altLang="en-US" sz="1400" i="1" dirty="0">
                <a:solidFill>
                  <a:schemeClr val="accent2"/>
                </a:solidFill>
                <a:latin typeface="Cambria" panose="02040503050406030204" pitchFamily="18" charset="0"/>
              </a:rPr>
              <a:t>   consecutively in order of first mention</a:t>
            </a:r>
            <a:r>
              <a:rPr lang="en-US" altLang="en-US" sz="1400" dirty="0">
                <a:solidFill>
                  <a:schemeClr val="accent2"/>
                </a:solidFill>
                <a:latin typeface="Cambria" panose="02040503050406030204" pitchFamily="18" charset="0"/>
              </a:rPr>
              <a:t>) &amp; Annexures / Appendix  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34BA72-5426-61AE-1B85-1816C6E3669F}"/>
              </a:ext>
            </a:extLst>
          </p:cNvPr>
          <p:cNvSpPr/>
          <p:nvPr/>
        </p:nvSpPr>
        <p:spPr>
          <a:xfrm>
            <a:off x="181903" y="974005"/>
            <a:ext cx="8780194" cy="3693246"/>
          </a:xfrm>
          <a:prstGeom prst="rect">
            <a:avLst/>
          </a:prstGeom>
          <a:solidFill>
            <a:schemeClr val="lt1">
              <a:alpha val="99000"/>
            </a:schemeClr>
          </a:solidFill>
          <a:ln w="76200"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T. Rahman et al., “COVID-19 Radiography Database,” Kaggle, 2020. [Online]. Available: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  <a:hlinkClick r:id="rId3"/>
              </a:rPr>
              <a:t>https://www.kaggle.com/datasets/tawsifurrahman/covid19-radiography-database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+mn-ea"/>
              <a:cs typeface="+mn-cs"/>
            </a:endParaRP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F. Chollet, “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Xception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: Deep Learning with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Depthwise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Separable Convolutions,” in Proc. IEEE Conf.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Comput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 Vis. Pattern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Recognit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. (CVPR), 2017, pp. 1251–1258.</a:t>
            </a: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A.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Krizhevsky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I.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Sutskever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, and G. E. Hinton, “ImageNet Classification with Deep Convolutional Neural Networks,” Commun. ACM, vol. 60, no. 6, pp. 84–90, 2017.</a:t>
            </a: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S.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Minaee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 et al., “Deep-COVID: Predicting COVID-19 from Chest X-Ray Images Using Deep Transfer Learning,” Med. Image Anal., vol. 65, p. 101794, 2020.</a:t>
            </a: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L. Wang, Z. Q. Lin, and A. Wong, “COVID-Net: A Tailored Deep Convolutional Neural Network Design for Detection of COVID-19 Cases from Chest X-ray Images,” Sci. Rep., vol. 10, pp. 1–12, Aug. 2020.</a:t>
            </a:r>
          </a:p>
          <a:p>
            <a:pPr marL="457200" marR="0" lvl="0" indent="-457200" algn="just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+mn-ea"/>
                <a:cs typeface="+mn-cs"/>
              </a:rPr>
              <a:t>P. K. Sethy and S. K. Behera, “Detection of Coronavirus Disease (COVID-19) Based on Deep Features,” Preprint, Mar. 2020. [Online]. Available: https://doi.org/10.13140/RG.2.2.21946.93125</a:t>
            </a:r>
          </a:p>
        </p:txBody>
      </p:sp>
    </p:spTree>
    <p:extLst>
      <p:ext uri="{BB962C8B-B14F-4D97-AF65-F5344CB8AC3E}">
        <p14:creationId xmlns:p14="http://schemas.microsoft.com/office/powerpoint/2010/main" val="174425590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</TotalTime>
  <Words>1194</Words>
  <Application>Microsoft Office PowerPoint</Application>
  <PresentationFormat>On-screen Show (16:9)</PresentationFormat>
  <Paragraphs>101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Cambria</vt:lpstr>
      <vt:lpstr>Playfair Display</vt:lpstr>
      <vt:lpstr>Times New Roman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Organizational Concepts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Veerasagar SS</cp:lastModifiedBy>
  <cp:revision>33</cp:revision>
  <dcterms:modified xsi:type="dcterms:W3CDTF">2025-12-04T18:04:57Z</dcterms:modified>
</cp:coreProperties>
</file>