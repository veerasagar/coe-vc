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4"/>
  </p:notesMasterIdLst>
  <p:sldIdLst>
    <p:sldId id="256" r:id="rId2"/>
    <p:sldId id="257" r:id="rId3"/>
    <p:sldId id="273" r:id="rId4"/>
    <p:sldId id="271" r:id="rId5"/>
    <p:sldId id="272" r:id="rId6"/>
    <p:sldId id="268" r:id="rId7"/>
    <p:sldId id="274" r:id="rId8"/>
    <p:sldId id="275" r:id="rId9"/>
    <p:sldId id="276" r:id="rId10"/>
    <p:sldId id="258" r:id="rId11"/>
    <p:sldId id="266" r:id="rId12"/>
    <p:sldId id="267" r:id="rId13"/>
  </p:sldIdLst>
  <p:sldSz cx="20107275" cy="11310938"/>
  <p:notesSz cx="6858000" cy="9144000"/>
  <p:embeddedFontLst>
    <p:embeddedFont>
      <p:font typeface="Algerian" panose="04020705040A02060702" pitchFamily="82" charset="0"/>
      <p:regular r:id="rId15"/>
    </p:embeddedFont>
    <p:embeddedFont>
      <p:font typeface="Arial Black" panose="020B0A04020102020204" pitchFamily="34" charset="0"/>
      <p:bold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63">
          <p15:clr>
            <a:srgbClr val="000000"/>
          </p15:clr>
        </p15:guide>
        <p15:guide id="2" pos="6333">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6965A4-4BA8-4662-854A-DF7913A153A0}">
  <a:tblStyle styleId="{786965A4-4BA8-4662-854A-DF7913A153A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F1F5"/>
          </a:solidFill>
        </a:fill>
      </a:tcStyle>
    </a:wholeTbl>
    <a:band1H>
      <a:tcTxStyle/>
      <a:tcStyle>
        <a:tcBdr/>
        <a:fill>
          <a:solidFill>
            <a:srgbClr val="CEE2EA"/>
          </a:solidFill>
        </a:fill>
      </a:tcStyle>
    </a:band1H>
    <a:band2H>
      <a:tcTxStyle/>
      <a:tcStyle>
        <a:tcBdr/>
      </a:tcStyle>
    </a:band2H>
    <a:band1V>
      <a:tcTxStyle/>
      <a:tcStyle>
        <a:tcBdr/>
        <a:fill>
          <a:solidFill>
            <a:srgbClr val="CEE2EA"/>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7" d="100"/>
          <a:sy n="37" d="100"/>
        </p:scale>
        <p:origin x="848" y="24"/>
      </p:cViewPr>
      <p:guideLst>
        <p:guide orient="horz" pos="3563"/>
        <p:guide pos="63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11355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1" name="Google Shape;10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0" name="Google Shape;110;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0" name="Google Shape;110;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8653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 name="Google Shape;155;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 name="Google Shape;155;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185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 name="Google Shape;119;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8" name="Google Shape;178;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 name="Google Shape;184;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809655" y="1251744"/>
            <a:ext cx="16588502" cy="5881688"/>
          </a:xfrm>
        </p:spPr>
        <p:txBody>
          <a:bodyPr anchor="b">
            <a:normAutofit/>
          </a:bodyPr>
          <a:lstStyle>
            <a:lvl1pPr algn="l">
              <a:lnSpc>
                <a:spcPct val="85000"/>
              </a:lnSpc>
              <a:defRPr sz="13194" spc="-82"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14225" y="7348679"/>
            <a:ext cx="16588502" cy="1885156"/>
          </a:xfrm>
        </p:spPr>
        <p:txBody>
          <a:bodyPr lIns="91440" rIns="91440">
            <a:normAutofit/>
          </a:bodyPr>
          <a:lstStyle>
            <a:lvl1pPr marL="0" indent="0" algn="l">
              <a:buNone/>
              <a:defRPr sz="3958" cap="all" spc="330" baseline="0">
                <a:solidFill>
                  <a:schemeClr val="tx2"/>
                </a:solidFill>
                <a:latin typeface="+mj-lt"/>
              </a:defRPr>
            </a:lvl1pPr>
            <a:lvl2pPr marL="754014" indent="0" algn="ctr">
              <a:buNone/>
              <a:defRPr sz="3958"/>
            </a:lvl2pPr>
            <a:lvl3pPr marL="1508028" indent="0" algn="ctr">
              <a:buNone/>
              <a:defRPr sz="3958"/>
            </a:lvl3pPr>
            <a:lvl4pPr marL="2262043" indent="0" algn="ctr">
              <a:buNone/>
              <a:defRPr sz="3298"/>
            </a:lvl4pPr>
            <a:lvl5pPr marL="3016057" indent="0" algn="ctr">
              <a:buNone/>
              <a:defRPr sz="3298"/>
            </a:lvl5pPr>
            <a:lvl6pPr marL="3770071" indent="0" algn="ctr">
              <a:buNone/>
              <a:defRPr sz="3298"/>
            </a:lvl6pPr>
            <a:lvl7pPr marL="4524085" indent="0" algn="ctr">
              <a:buNone/>
              <a:defRPr sz="3298"/>
            </a:lvl7pPr>
            <a:lvl8pPr marL="5278100" indent="0" algn="ctr">
              <a:buNone/>
              <a:defRPr sz="3298"/>
            </a:lvl8pPr>
            <a:lvl9pPr marL="6032114" indent="0" algn="ctr">
              <a:buNone/>
              <a:defRPr sz="329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991692" y="7163594"/>
            <a:ext cx="1628689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287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99319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809655" y="1251744"/>
            <a:ext cx="16588502" cy="5881688"/>
          </a:xfrm>
        </p:spPr>
        <p:txBody>
          <a:bodyPr anchor="b" anchorCtr="0">
            <a:normAutofit/>
          </a:bodyPr>
          <a:lstStyle>
            <a:lvl1pPr>
              <a:lnSpc>
                <a:spcPct val="85000"/>
              </a:lnSpc>
              <a:defRPr sz="13194"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809655" y="7344569"/>
            <a:ext cx="16588502" cy="1885156"/>
          </a:xfrm>
        </p:spPr>
        <p:txBody>
          <a:bodyPr lIns="91440" rIns="91440" anchor="t" anchorCtr="0">
            <a:normAutofit/>
          </a:bodyPr>
          <a:lstStyle>
            <a:lvl1pPr marL="0" indent="0">
              <a:buNone/>
              <a:defRPr sz="3958" cap="all" spc="330" baseline="0">
                <a:solidFill>
                  <a:schemeClr val="tx2"/>
                </a:solidFill>
                <a:latin typeface="+mj-lt"/>
              </a:defRPr>
            </a:lvl1pPr>
            <a:lvl2pPr marL="754014" indent="0">
              <a:buNone/>
              <a:defRPr sz="2969">
                <a:solidFill>
                  <a:schemeClr val="tx1">
                    <a:tint val="75000"/>
                  </a:schemeClr>
                </a:solidFill>
              </a:defRPr>
            </a:lvl2pPr>
            <a:lvl3pPr marL="1508028" indent="0">
              <a:buNone/>
              <a:defRPr sz="2639">
                <a:solidFill>
                  <a:schemeClr val="tx1">
                    <a:tint val="75000"/>
                  </a:schemeClr>
                </a:solidFill>
              </a:defRPr>
            </a:lvl3pPr>
            <a:lvl4pPr marL="2262043" indent="0">
              <a:buNone/>
              <a:defRPr sz="2309">
                <a:solidFill>
                  <a:schemeClr val="tx1">
                    <a:tint val="75000"/>
                  </a:schemeClr>
                </a:solidFill>
              </a:defRPr>
            </a:lvl4pPr>
            <a:lvl5pPr marL="3016057" indent="0">
              <a:buNone/>
              <a:defRPr sz="2309">
                <a:solidFill>
                  <a:schemeClr val="tx1">
                    <a:tint val="75000"/>
                  </a:schemeClr>
                </a:solidFill>
              </a:defRPr>
            </a:lvl5pPr>
            <a:lvl6pPr marL="3770071" indent="0">
              <a:buNone/>
              <a:defRPr sz="2309">
                <a:solidFill>
                  <a:schemeClr val="tx1">
                    <a:tint val="75000"/>
                  </a:schemeClr>
                </a:solidFill>
              </a:defRPr>
            </a:lvl6pPr>
            <a:lvl7pPr marL="4524085" indent="0">
              <a:buNone/>
              <a:defRPr sz="2309">
                <a:solidFill>
                  <a:schemeClr val="tx1">
                    <a:tint val="75000"/>
                  </a:schemeClr>
                </a:solidFill>
              </a:defRPr>
            </a:lvl7pPr>
            <a:lvl8pPr marL="5278100" indent="0">
              <a:buNone/>
              <a:defRPr sz="2309">
                <a:solidFill>
                  <a:schemeClr val="tx1">
                    <a:tint val="75000"/>
                  </a:schemeClr>
                </a:solidFill>
              </a:defRPr>
            </a:lvl8pPr>
            <a:lvl9pPr marL="6032114" indent="0">
              <a:buNone/>
              <a:defRPr sz="230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991692" y="7163594"/>
            <a:ext cx="1628689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126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809655" y="472697"/>
            <a:ext cx="16588502" cy="239274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809653" y="3044180"/>
            <a:ext cx="8143446" cy="663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254710" y="3044181"/>
            <a:ext cx="8143446" cy="663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271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809655" y="472697"/>
            <a:ext cx="16588502" cy="23927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09655" y="3044704"/>
            <a:ext cx="8143446" cy="1214354"/>
          </a:xfrm>
        </p:spPr>
        <p:txBody>
          <a:bodyPr lIns="91440" rIns="91440" anchor="ctr">
            <a:normAutofit/>
          </a:bodyPr>
          <a:lstStyle>
            <a:lvl1pPr marL="0" indent="0">
              <a:buNone/>
              <a:defRPr sz="3298" b="0" cap="all" baseline="0">
                <a:solidFill>
                  <a:schemeClr val="tx2"/>
                </a:solidFill>
              </a:defRPr>
            </a:lvl1pPr>
            <a:lvl2pPr marL="754014" indent="0">
              <a:buNone/>
              <a:defRPr sz="3298" b="1"/>
            </a:lvl2pPr>
            <a:lvl3pPr marL="1508028" indent="0">
              <a:buNone/>
              <a:defRPr sz="2969" b="1"/>
            </a:lvl3pPr>
            <a:lvl4pPr marL="2262043" indent="0">
              <a:buNone/>
              <a:defRPr sz="2639" b="1"/>
            </a:lvl4pPr>
            <a:lvl5pPr marL="3016057" indent="0">
              <a:buNone/>
              <a:defRPr sz="2639" b="1"/>
            </a:lvl5pPr>
            <a:lvl6pPr marL="3770071" indent="0">
              <a:buNone/>
              <a:defRPr sz="2639" b="1"/>
            </a:lvl6pPr>
            <a:lvl7pPr marL="4524085" indent="0">
              <a:buNone/>
              <a:defRPr sz="2639" b="1"/>
            </a:lvl7pPr>
            <a:lvl8pPr marL="5278100" indent="0">
              <a:buNone/>
              <a:defRPr sz="2639" b="1"/>
            </a:lvl8pPr>
            <a:lvl9pPr marL="6032114" indent="0">
              <a:buNone/>
              <a:defRPr sz="2639" b="1"/>
            </a:lvl9pPr>
          </a:lstStyle>
          <a:p>
            <a:pPr lvl="0"/>
            <a:r>
              <a:rPr lang="en-US"/>
              <a:t>Click to edit Master text styles</a:t>
            </a:r>
          </a:p>
        </p:txBody>
      </p:sp>
      <p:sp>
        <p:nvSpPr>
          <p:cNvPr id="4" name="Content Placeholder 3"/>
          <p:cNvSpPr>
            <a:spLocks noGrp="1"/>
          </p:cNvSpPr>
          <p:nvPr>
            <p:ph sz="half" idx="2"/>
          </p:nvPr>
        </p:nvSpPr>
        <p:spPr>
          <a:xfrm>
            <a:off x="1809655" y="4259058"/>
            <a:ext cx="8143446" cy="55716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254710" y="3044704"/>
            <a:ext cx="8143446" cy="1214354"/>
          </a:xfrm>
        </p:spPr>
        <p:txBody>
          <a:bodyPr lIns="91440" rIns="91440" anchor="ctr">
            <a:normAutofit/>
          </a:bodyPr>
          <a:lstStyle>
            <a:lvl1pPr marL="0" indent="0">
              <a:buNone/>
              <a:defRPr sz="3298" b="0" cap="all" baseline="0">
                <a:solidFill>
                  <a:schemeClr val="tx2"/>
                </a:solidFill>
              </a:defRPr>
            </a:lvl1pPr>
            <a:lvl2pPr marL="754014" indent="0">
              <a:buNone/>
              <a:defRPr sz="3298" b="1"/>
            </a:lvl2pPr>
            <a:lvl3pPr marL="1508028" indent="0">
              <a:buNone/>
              <a:defRPr sz="2969" b="1"/>
            </a:lvl3pPr>
            <a:lvl4pPr marL="2262043" indent="0">
              <a:buNone/>
              <a:defRPr sz="2639" b="1"/>
            </a:lvl4pPr>
            <a:lvl5pPr marL="3016057" indent="0">
              <a:buNone/>
              <a:defRPr sz="2639" b="1"/>
            </a:lvl5pPr>
            <a:lvl6pPr marL="3770071" indent="0">
              <a:buNone/>
              <a:defRPr sz="2639" b="1"/>
            </a:lvl6pPr>
            <a:lvl7pPr marL="4524085" indent="0">
              <a:buNone/>
              <a:defRPr sz="2639" b="1"/>
            </a:lvl7pPr>
            <a:lvl8pPr marL="5278100" indent="0">
              <a:buNone/>
              <a:defRPr sz="2639" b="1"/>
            </a:lvl8pPr>
            <a:lvl9pPr marL="6032114" indent="0">
              <a:buNone/>
              <a:defRPr sz="2639" b="1"/>
            </a:lvl9pPr>
          </a:lstStyle>
          <a:p>
            <a:pPr lvl="0"/>
            <a:r>
              <a:rPr lang="en-US"/>
              <a:t>Click to edit Master text styles</a:t>
            </a:r>
          </a:p>
        </p:txBody>
      </p:sp>
      <p:sp>
        <p:nvSpPr>
          <p:cNvPr id="6" name="Content Placeholder 5"/>
          <p:cNvSpPr>
            <a:spLocks noGrp="1"/>
          </p:cNvSpPr>
          <p:nvPr>
            <p:ph sz="quarter" idx="4"/>
          </p:nvPr>
        </p:nvSpPr>
        <p:spPr>
          <a:xfrm>
            <a:off x="10254710" y="4259058"/>
            <a:ext cx="8143446" cy="55716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62713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34264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7311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7" y="0"/>
            <a:ext cx="6680640" cy="11310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662961" y="0"/>
            <a:ext cx="105563" cy="113109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54023" y="980279"/>
            <a:ext cx="5278160" cy="3770313"/>
          </a:xfrm>
        </p:spPr>
        <p:txBody>
          <a:bodyPr anchor="b">
            <a:normAutofit/>
          </a:bodyPr>
          <a:lstStyle>
            <a:lvl1pPr>
              <a:defRPr sz="5937"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917240" y="1206500"/>
            <a:ext cx="10707124" cy="86717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54023" y="4826000"/>
            <a:ext cx="5278160" cy="5573208"/>
          </a:xfrm>
        </p:spPr>
        <p:txBody>
          <a:bodyPr lIns="91440" rIns="91440">
            <a:normAutofit/>
          </a:bodyPr>
          <a:lstStyle>
            <a:lvl1pPr marL="0" indent="0">
              <a:buNone/>
              <a:defRPr sz="2474">
                <a:solidFill>
                  <a:srgbClr val="FFFFFF"/>
                </a:solidFill>
              </a:defRPr>
            </a:lvl1pPr>
            <a:lvl2pPr marL="754014" indent="0">
              <a:buNone/>
              <a:defRPr sz="1979"/>
            </a:lvl2pPr>
            <a:lvl3pPr marL="1508028" indent="0">
              <a:buNone/>
              <a:defRPr sz="1649"/>
            </a:lvl3pPr>
            <a:lvl4pPr marL="2262043" indent="0">
              <a:buNone/>
              <a:defRPr sz="1484"/>
            </a:lvl4pPr>
            <a:lvl5pPr marL="3016057" indent="0">
              <a:buNone/>
              <a:defRPr sz="1484"/>
            </a:lvl5pPr>
            <a:lvl6pPr marL="3770071" indent="0">
              <a:buNone/>
              <a:defRPr sz="1484"/>
            </a:lvl6pPr>
            <a:lvl7pPr marL="4524085" indent="0">
              <a:buNone/>
              <a:defRPr sz="1484"/>
            </a:lvl7pPr>
            <a:lvl8pPr marL="5278100" indent="0">
              <a:buNone/>
              <a:defRPr sz="1484"/>
            </a:lvl8pPr>
            <a:lvl9pPr marL="6032114" indent="0">
              <a:buNone/>
              <a:defRPr sz="1484"/>
            </a:lvl9pPr>
          </a:lstStyle>
          <a:p>
            <a:pPr lvl="0"/>
            <a:r>
              <a:rPr lang="en-US"/>
              <a:t>Click to edit Master text styles</a:t>
            </a:r>
          </a:p>
        </p:txBody>
      </p:sp>
      <p:sp>
        <p:nvSpPr>
          <p:cNvPr id="5" name="Date Placeholder 4"/>
          <p:cNvSpPr>
            <a:spLocks noGrp="1"/>
          </p:cNvSpPr>
          <p:nvPr>
            <p:ph type="dt" sz="half" idx="10"/>
          </p:nvPr>
        </p:nvSpPr>
        <p:spPr>
          <a:xfrm>
            <a:off x="767731" y="10654160"/>
            <a:ext cx="4318496" cy="602203"/>
          </a:xfrm>
        </p:spPr>
        <p:txBody>
          <a:bodyPr/>
          <a:lstStyle>
            <a:lvl1pPr algn="l">
              <a:defRPr/>
            </a:lvl1pPr>
          </a:lstStyle>
          <a:p>
            <a:endParaRPr lang="en-IN"/>
          </a:p>
        </p:txBody>
      </p:sp>
      <p:sp>
        <p:nvSpPr>
          <p:cNvPr id="6" name="Footer Placeholder 5"/>
          <p:cNvSpPr>
            <a:spLocks noGrp="1"/>
          </p:cNvSpPr>
          <p:nvPr>
            <p:ph type="ftr" sz="quarter" idx="11"/>
          </p:nvPr>
        </p:nvSpPr>
        <p:spPr>
          <a:xfrm>
            <a:off x="7917239" y="10654160"/>
            <a:ext cx="7665899" cy="602203"/>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8971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8169011"/>
            <a:ext cx="20102039" cy="31419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5" y="8106462"/>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809655" y="8370094"/>
            <a:ext cx="16678985" cy="1357313"/>
          </a:xfrm>
        </p:spPr>
        <p:txBody>
          <a:bodyPr lIns="91440" tIns="0" rIns="91440" bIns="0" anchor="b">
            <a:noAutofit/>
          </a:bodyPr>
          <a:lstStyle>
            <a:lvl1pPr>
              <a:defRPr sz="5937"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6" y="0"/>
            <a:ext cx="20107250" cy="8106463"/>
          </a:xfrm>
          <a:blipFill>
            <a:blip r:embed="rId2"/>
            <a:stretch>
              <a:fillRect/>
            </a:stretch>
          </a:blipFill>
        </p:spPr>
        <p:txBody>
          <a:bodyPr lIns="457200" tIns="457200" anchor="t"/>
          <a:lstStyle>
            <a:lvl1pPr marL="0" indent="0">
              <a:buNone/>
              <a:defRPr sz="5277">
                <a:solidFill>
                  <a:schemeClr val="bg1"/>
                </a:solidFill>
              </a:defRPr>
            </a:lvl1pPr>
            <a:lvl2pPr marL="754014" indent="0">
              <a:buNone/>
              <a:defRPr sz="4618"/>
            </a:lvl2pPr>
            <a:lvl3pPr marL="1508028" indent="0">
              <a:buNone/>
              <a:defRPr sz="3958"/>
            </a:lvl3pPr>
            <a:lvl4pPr marL="2262043" indent="0">
              <a:buNone/>
              <a:defRPr sz="3298"/>
            </a:lvl4pPr>
            <a:lvl5pPr marL="3016057" indent="0">
              <a:buNone/>
              <a:defRPr sz="3298"/>
            </a:lvl5pPr>
            <a:lvl6pPr marL="3770071" indent="0">
              <a:buNone/>
              <a:defRPr sz="3298"/>
            </a:lvl6pPr>
            <a:lvl7pPr marL="4524085" indent="0">
              <a:buNone/>
              <a:defRPr sz="3298"/>
            </a:lvl7pPr>
            <a:lvl8pPr marL="5278100" indent="0">
              <a:buNone/>
              <a:defRPr sz="3298"/>
            </a:lvl8pPr>
            <a:lvl9pPr marL="6032114" indent="0">
              <a:buNone/>
              <a:defRPr sz="3298"/>
            </a:lvl9pPr>
          </a:lstStyle>
          <a:p>
            <a:r>
              <a:rPr lang="en-US"/>
              <a:t>Click icon to add picture</a:t>
            </a:r>
            <a:endParaRPr lang="en-US" dirty="0"/>
          </a:p>
        </p:txBody>
      </p:sp>
      <p:sp>
        <p:nvSpPr>
          <p:cNvPr id="4" name="Text Placeholder 3"/>
          <p:cNvSpPr>
            <a:spLocks noGrp="1"/>
          </p:cNvSpPr>
          <p:nvPr>
            <p:ph type="body" sz="half" idx="2"/>
          </p:nvPr>
        </p:nvSpPr>
        <p:spPr>
          <a:xfrm>
            <a:off x="1809655" y="9742486"/>
            <a:ext cx="16678985" cy="980281"/>
          </a:xfrm>
        </p:spPr>
        <p:txBody>
          <a:bodyPr lIns="91440" tIns="0" rIns="91440" bIns="0">
            <a:normAutofit/>
          </a:bodyPr>
          <a:lstStyle>
            <a:lvl1pPr marL="0" indent="0">
              <a:spcBef>
                <a:spcPts val="0"/>
              </a:spcBef>
              <a:spcAft>
                <a:spcPts val="990"/>
              </a:spcAft>
              <a:buNone/>
              <a:defRPr sz="2474">
                <a:solidFill>
                  <a:srgbClr val="FFFFFF"/>
                </a:solidFill>
              </a:defRPr>
            </a:lvl1pPr>
            <a:lvl2pPr marL="754014" indent="0">
              <a:buNone/>
              <a:defRPr sz="1979"/>
            </a:lvl2pPr>
            <a:lvl3pPr marL="1508028" indent="0">
              <a:buNone/>
              <a:defRPr sz="1649"/>
            </a:lvl3pPr>
            <a:lvl4pPr marL="2262043" indent="0">
              <a:buNone/>
              <a:defRPr sz="1484"/>
            </a:lvl4pPr>
            <a:lvl5pPr marL="3016057" indent="0">
              <a:buNone/>
              <a:defRPr sz="1484"/>
            </a:lvl5pPr>
            <a:lvl6pPr marL="3770071" indent="0">
              <a:buNone/>
              <a:defRPr sz="1484"/>
            </a:lvl6pPr>
            <a:lvl7pPr marL="4524085" indent="0">
              <a:buNone/>
              <a:defRPr sz="1484"/>
            </a:lvl7pPr>
            <a:lvl8pPr marL="5278100" indent="0">
              <a:buNone/>
              <a:defRPr sz="1484"/>
            </a:lvl8pPr>
            <a:lvl9pPr marL="6032114" indent="0">
              <a:buNone/>
              <a:defRPr sz="1484"/>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307570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19122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4389269" y="684096"/>
            <a:ext cx="4335631" cy="949574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82375" y="684095"/>
            <a:ext cx="12755553" cy="9495749"/>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82615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7"/>
        <p:cNvGrpSpPr/>
        <p:nvPr/>
      </p:nvGrpSpPr>
      <p:grpSpPr>
        <a:xfrm>
          <a:off x="0" y="0"/>
          <a:ext cx="0" cy="0"/>
          <a:chOff x="0" y="0"/>
          <a:chExt cx="0" cy="0"/>
        </a:xfrm>
      </p:grpSpPr>
      <p:sp>
        <p:nvSpPr>
          <p:cNvPr id="38" name="Google Shape;38;p4"/>
          <p:cNvSpPr txBox="1">
            <a:spLocks noGrp="1"/>
          </p:cNvSpPr>
          <p:nvPr>
            <p:ph type="title"/>
          </p:nvPr>
        </p:nvSpPr>
        <p:spPr>
          <a:xfrm>
            <a:off x="2848531" y="1005417"/>
            <a:ext cx="14242653" cy="1885156"/>
          </a:xfrm>
          <a:prstGeom prst="rect">
            <a:avLst/>
          </a:prstGeom>
          <a:noFill/>
          <a:ln>
            <a:noFill/>
          </a:ln>
        </p:spPr>
        <p:txBody>
          <a:bodyPr spcFirstLastPara="1" wrap="square" lIns="179475" tIns="89725" rIns="179475" bIns="897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4"/>
          <p:cNvSpPr txBox="1">
            <a:spLocks noGrp="1"/>
          </p:cNvSpPr>
          <p:nvPr>
            <p:ph type="dt" idx="10"/>
          </p:nvPr>
        </p:nvSpPr>
        <p:spPr>
          <a:xfrm>
            <a:off x="1004888" y="10483850"/>
            <a:ext cx="4692650" cy="601663"/>
          </a:xfrm>
          <a:prstGeom prst="rect">
            <a:avLst/>
          </a:prstGeom>
          <a:noFill/>
          <a:ln>
            <a:noFill/>
          </a:ln>
        </p:spPr>
        <p:txBody>
          <a:bodyPr spcFirstLastPara="1" wrap="square" lIns="179475" tIns="89725" rIns="179475" bIns="89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6870700" y="10483850"/>
            <a:ext cx="6365875" cy="601663"/>
          </a:xfrm>
          <a:prstGeom prst="rect">
            <a:avLst/>
          </a:prstGeom>
          <a:noFill/>
          <a:ln>
            <a:noFill/>
          </a:ln>
        </p:spPr>
        <p:txBody>
          <a:bodyPr spcFirstLastPara="1" wrap="square" lIns="179475" tIns="89725" rIns="179475" bIns="89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14409738" y="10483850"/>
            <a:ext cx="4692650" cy="601663"/>
          </a:xfrm>
          <a:prstGeom prst="rect">
            <a:avLst/>
          </a:prstGeom>
          <a:noFill/>
          <a:ln>
            <a:noFill/>
          </a:ln>
        </p:spPr>
        <p:txBody>
          <a:bodyPr spcFirstLastPara="1" wrap="square" lIns="179475" tIns="89725" rIns="179475" bIns="89725" anchor="ctr" anchorCtr="0">
            <a:noAutofit/>
          </a:bodyPr>
          <a:lstStyle>
            <a:lvl1pPr marL="0" marR="0" lvl="0" indent="0" algn="r">
              <a:spcBef>
                <a:spcPts val="0"/>
              </a:spcBef>
              <a:spcAft>
                <a:spcPts val="0"/>
              </a:spcAft>
              <a:buNone/>
              <a:defRPr sz="2400">
                <a:solidFill>
                  <a:srgbClr val="898989"/>
                </a:solidFill>
                <a:latin typeface="Calibri"/>
                <a:ea typeface="Calibri"/>
                <a:cs typeface="Calibri"/>
                <a:sym typeface="Calibri"/>
              </a:defRPr>
            </a:lvl1pPr>
            <a:lvl2pPr marL="0" marR="0" lvl="1" indent="0" algn="r">
              <a:spcBef>
                <a:spcPts val="0"/>
              </a:spcBef>
              <a:spcAft>
                <a:spcPts val="0"/>
              </a:spcAft>
              <a:buNone/>
              <a:defRPr sz="2400">
                <a:solidFill>
                  <a:srgbClr val="898989"/>
                </a:solidFill>
                <a:latin typeface="Calibri"/>
                <a:ea typeface="Calibri"/>
                <a:cs typeface="Calibri"/>
                <a:sym typeface="Calibri"/>
              </a:defRPr>
            </a:lvl2pPr>
            <a:lvl3pPr marL="0" marR="0" lvl="2" indent="0" algn="r">
              <a:spcBef>
                <a:spcPts val="0"/>
              </a:spcBef>
              <a:spcAft>
                <a:spcPts val="0"/>
              </a:spcAft>
              <a:buNone/>
              <a:defRPr sz="2400">
                <a:solidFill>
                  <a:srgbClr val="898989"/>
                </a:solidFill>
                <a:latin typeface="Calibri"/>
                <a:ea typeface="Calibri"/>
                <a:cs typeface="Calibri"/>
                <a:sym typeface="Calibri"/>
              </a:defRPr>
            </a:lvl3pPr>
            <a:lvl4pPr marL="0" marR="0" lvl="3" indent="0" algn="r">
              <a:spcBef>
                <a:spcPts val="0"/>
              </a:spcBef>
              <a:spcAft>
                <a:spcPts val="0"/>
              </a:spcAft>
              <a:buNone/>
              <a:defRPr sz="2400">
                <a:solidFill>
                  <a:srgbClr val="898989"/>
                </a:solidFill>
                <a:latin typeface="Calibri"/>
                <a:ea typeface="Calibri"/>
                <a:cs typeface="Calibri"/>
                <a:sym typeface="Calibri"/>
              </a:defRPr>
            </a:lvl4pPr>
            <a:lvl5pPr marL="0" marR="0" lvl="4" indent="0" algn="r">
              <a:spcBef>
                <a:spcPts val="0"/>
              </a:spcBef>
              <a:spcAft>
                <a:spcPts val="0"/>
              </a:spcAft>
              <a:buNone/>
              <a:defRPr sz="2400">
                <a:solidFill>
                  <a:srgbClr val="898989"/>
                </a:solidFill>
                <a:latin typeface="Calibri"/>
                <a:ea typeface="Calibri"/>
                <a:cs typeface="Calibri"/>
                <a:sym typeface="Calibri"/>
              </a:defRPr>
            </a:lvl5pPr>
            <a:lvl6pPr marL="0" marR="0" lvl="5" indent="0" algn="r">
              <a:spcBef>
                <a:spcPts val="0"/>
              </a:spcBef>
              <a:spcAft>
                <a:spcPts val="0"/>
              </a:spcAft>
              <a:buNone/>
              <a:defRPr sz="2400">
                <a:solidFill>
                  <a:srgbClr val="898989"/>
                </a:solidFill>
                <a:latin typeface="Calibri"/>
                <a:ea typeface="Calibri"/>
                <a:cs typeface="Calibri"/>
                <a:sym typeface="Calibri"/>
              </a:defRPr>
            </a:lvl6pPr>
            <a:lvl7pPr marL="0" marR="0" lvl="6" indent="0" algn="r">
              <a:spcBef>
                <a:spcPts val="0"/>
              </a:spcBef>
              <a:spcAft>
                <a:spcPts val="0"/>
              </a:spcAft>
              <a:buNone/>
              <a:defRPr sz="2400">
                <a:solidFill>
                  <a:srgbClr val="898989"/>
                </a:solidFill>
                <a:latin typeface="Calibri"/>
                <a:ea typeface="Calibri"/>
                <a:cs typeface="Calibri"/>
                <a:sym typeface="Calibri"/>
              </a:defRPr>
            </a:lvl7pPr>
            <a:lvl8pPr marL="0" marR="0" lvl="7" indent="0" algn="r">
              <a:spcBef>
                <a:spcPts val="0"/>
              </a:spcBef>
              <a:spcAft>
                <a:spcPts val="0"/>
              </a:spcAft>
              <a:buNone/>
              <a:defRPr sz="2400">
                <a:solidFill>
                  <a:srgbClr val="898989"/>
                </a:solidFill>
                <a:latin typeface="Calibri"/>
                <a:ea typeface="Calibri"/>
                <a:cs typeface="Calibri"/>
                <a:sym typeface="Calibri"/>
              </a:defRPr>
            </a:lvl8pPr>
            <a:lvl9pPr marL="0" marR="0" lvl="8" indent="0" algn="r">
              <a:spcBef>
                <a:spcPts val="0"/>
              </a:spcBef>
              <a:spcAft>
                <a:spcPts val="0"/>
              </a:spcAft>
              <a:buNone/>
              <a:defRPr sz="24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sz="4000">
              <a:solidFill>
                <a:schemeClr val="dk1"/>
              </a:solidFill>
            </a:endParaRPr>
          </a:p>
        </p:txBody>
      </p:sp>
    </p:spTree>
    <p:extLst>
      <p:ext uri="{BB962C8B-B14F-4D97-AF65-F5344CB8AC3E}">
        <p14:creationId xmlns:p14="http://schemas.microsoft.com/office/powerpoint/2010/main" val="956897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10556875"/>
            <a:ext cx="20107275"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 y="10447223"/>
            <a:ext cx="20107277" cy="1088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809655" y="472697"/>
            <a:ext cx="16588502" cy="239274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809655" y="3044180"/>
            <a:ext cx="16588502" cy="663575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09655" y="10654160"/>
            <a:ext cx="4077316" cy="602203"/>
          </a:xfrm>
          <a:prstGeom prst="rect">
            <a:avLst/>
          </a:prstGeom>
        </p:spPr>
        <p:txBody>
          <a:bodyPr vert="horz" lIns="91440" tIns="45720" rIns="91440" bIns="45720" rtlCol="0" anchor="ctr"/>
          <a:lstStyle>
            <a:lvl1pPr algn="l">
              <a:defRPr sz="1484">
                <a:solidFill>
                  <a:srgbClr val="FFFFFF"/>
                </a:solidFill>
              </a:defRPr>
            </a:lvl1pPr>
          </a:lstStyle>
          <a:p>
            <a:endParaRPr lang="en-IN"/>
          </a:p>
        </p:txBody>
      </p:sp>
      <p:sp>
        <p:nvSpPr>
          <p:cNvPr id="5" name="Footer Placeholder 4"/>
          <p:cNvSpPr>
            <a:spLocks noGrp="1"/>
          </p:cNvSpPr>
          <p:nvPr>
            <p:ph type="ftr" sz="quarter" idx="3"/>
          </p:nvPr>
        </p:nvSpPr>
        <p:spPr>
          <a:xfrm>
            <a:off x="6079325" y="10654160"/>
            <a:ext cx="7953859" cy="602203"/>
          </a:xfrm>
          <a:prstGeom prst="rect">
            <a:avLst/>
          </a:prstGeom>
        </p:spPr>
        <p:txBody>
          <a:bodyPr vert="horz" lIns="91440" tIns="45720" rIns="91440" bIns="45720" rtlCol="0" anchor="ctr"/>
          <a:lstStyle>
            <a:lvl1pPr algn="ctr">
              <a:defRPr sz="1484"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16328022" y="10654160"/>
            <a:ext cx="2163816" cy="602203"/>
          </a:xfrm>
          <a:prstGeom prst="rect">
            <a:avLst/>
          </a:prstGeom>
        </p:spPr>
        <p:txBody>
          <a:bodyPr vert="horz" lIns="91440" tIns="45720" rIns="91440" bIns="45720" rtlCol="0" anchor="ctr"/>
          <a:lstStyle>
            <a:lvl1pPr algn="r">
              <a:defRPr sz="1732">
                <a:solidFill>
                  <a:srgbClr val="FFFFFF"/>
                </a:solidFill>
              </a:defRPr>
            </a:lvl1pPr>
          </a:lstStyle>
          <a:p>
            <a:pPr marL="0" lvl="0" indent="0" algn="r" rtl="0">
              <a:spcBef>
                <a:spcPts val="0"/>
              </a:spcBef>
              <a:spcAft>
                <a:spcPts val="0"/>
              </a:spcAft>
              <a:buNone/>
            </a:pPr>
            <a:fld id="{00000000-1234-1234-1234-123412341234}" type="slidenum">
              <a:rPr lang="en-IN" smtClean="0"/>
              <a:t>‹#›</a:t>
            </a:fld>
            <a:endParaRPr lang="en-IN"/>
          </a:p>
        </p:txBody>
      </p:sp>
      <p:cxnSp>
        <p:nvCxnSpPr>
          <p:cNvPr id="10" name="Straight Connector 9"/>
          <p:cNvCxnSpPr/>
          <p:nvPr/>
        </p:nvCxnSpPr>
        <p:spPr>
          <a:xfrm>
            <a:off x="1968396" y="2866238"/>
            <a:ext cx="1643769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4669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defTabSz="1508028" rtl="0" eaLnBrk="1" latinLnBrk="0" hangingPunct="1">
        <a:lnSpc>
          <a:spcPct val="85000"/>
        </a:lnSpc>
        <a:spcBef>
          <a:spcPct val="0"/>
        </a:spcBef>
        <a:buNone/>
        <a:defRPr sz="7916" kern="1200" spc="-82" baseline="0">
          <a:solidFill>
            <a:schemeClr val="tx1">
              <a:lumMod val="75000"/>
              <a:lumOff val="25000"/>
            </a:schemeClr>
          </a:solidFill>
          <a:latin typeface="+mj-lt"/>
          <a:ea typeface="+mj-ea"/>
          <a:cs typeface="+mj-cs"/>
        </a:defRPr>
      </a:lvl1pPr>
    </p:titleStyle>
    <p:bodyStyle>
      <a:lvl1pPr marL="150803" indent="-150803" algn="l" defTabSz="1508028" rtl="0" eaLnBrk="1" latinLnBrk="0" hangingPunct="1">
        <a:lnSpc>
          <a:spcPct val="90000"/>
        </a:lnSpc>
        <a:spcBef>
          <a:spcPts val="1979"/>
        </a:spcBef>
        <a:spcAft>
          <a:spcPts val="330"/>
        </a:spcAft>
        <a:buClr>
          <a:schemeClr val="accent1"/>
        </a:buClr>
        <a:buSzPct val="100000"/>
        <a:buFont typeface="Calibri" panose="020F0502020204030204" pitchFamily="34" charset="0"/>
        <a:buChar char=" "/>
        <a:defRPr sz="3298" kern="1200">
          <a:solidFill>
            <a:schemeClr val="tx1">
              <a:lumMod val="75000"/>
              <a:lumOff val="25000"/>
            </a:schemeClr>
          </a:solidFill>
          <a:latin typeface="+mn-lt"/>
          <a:ea typeface="+mn-ea"/>
          <a:cs typeface="+mn-cs"/>
        </a:defRPr>
      </a:lvl1pPr>
      <a:lvl2pPr marL="633372" indent="-301606" algn="l" defTabSz="1508028" rtl="0" eaLnBrk="1" latinLnBrk="0" hangingPunct="1">
        <a:lnSpc>
          <a:spcPct val="90000"/>
        </a:lnSpc>
        <a:spcBef>
          <a:spcPts val="330"/>
        </a:spcBef>
        <a:spcAft>
          <a:spcPts val="660"/>
        </a:spcAft>
        <a:buClr>
          <a:schemeClr val="accent1"/>
        </a:buClr>
        <a:buFont typeface="Calibri" pitchFamily="34" charset="0"/>
        <a:buChar char="◦"/>
        <a:defRPr sz="2969" kern="1200">
          <a:solidFill>
            <a:schemeClr val="tx1">
              <a:lumMod val="75000"/>
              <a:lumOff val="25000"/>
            </a:schemeClr>
          </a:solidFill>
          <a:latin typeface="+mn-lt"/>
          <a:ea typeface="+mn-ea"/>
          <a:cs typeface="+mn-cs"/>
        </a:defRPr>
      </a:lvl2pPr>
      <a:lvl3pPr marL="934978" indent="-301606"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3pPr>
      <a:lvl4pPr marL="1236583" indent="-301606"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4pPr>
      <a:lvl5pPr marL="1538189" indent="-301606"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5pPr>
      <a:lvl6pPr marL="181412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6pPr>
      <a:lvl7pPr marL="214396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7pPr>
      <a:lvl8pPr marL="247380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8pPr>
      <a:lvl9pPr marL="280364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9pPr>
    </p:bodyStyle>
    <p:otherStyle>
      <a:defPPr>
        <a:defRPr lang="en-US"/>
      </a:defPPr>
      <a:lvl1pPr marL="0" algn="l" defTabSz="1508028" rtl="0" eaLnBrk="1" latinLnBrk="0" hangingPunct="1">
        <a:defRPr sz="2969" kern="1200">
          <a:solidFill>
            <a:schemeClr val="tx1"/>
          </a:solidFill>
          <a:latin typeface="+mn-lt"/>
          <a:ea typeface="+mn-ea"/>
          <a:cs typeface="+mn-cs"/>
        </a:defRPr>
      </a:lvl1pPr>
      <a:lvl2pPr marL="754014" algn="l" defTabSz="1508028" rtl="0" eaLnBrk="1" latinLnBrk="0" hangingPunct="1">
        <a:defRPr sz="2969" kern="1200">
          <a:solidFill>
            <a:schemeClr val="tx1"/>
          </a:solidFill>
          <a:latin typeface="+mn-lt"/>
          <a:ea typeface="+mn-ea"/>
          <a:cs typeface="+mn-cs"/>
        </a:defRPr>
      </a:lvl2pPr>
      <a:lvl3pPr marL="1508028" algn="l" defTabSz="1508028" rtl="0" eaLnBrk="1" latinLnBrk="0" hangingPunct="1">
        <a:defRPr sz="2969" kern="1200">
          <a:solidFill>
            <a:schemeClr val="tx1"/>
          </a:solidFill>
          <a:latin typeface="+mn-lt"/>
          <a:ea typeface="+mn-ea"/>
          <a:cs typeface="+mn-cs"/>
        </a:defRPr>
      </a:lvl3pPr>
      <a:lvl4pPr marL="2262043" algn="l" defTabSz="1508028" rtl="0" eaLnBrk="1" latinLnBrk="0" hangingPunct="1">
        <a:defRPr sz="2969" kern="1200">
          <a:solidFill>
            <a:schemeClr val="tx1"/>
          </a:solidFill>
          <a:latin typeface="+mn-lt"/>
          <a:ea typeface="+mn-ea"/>
          <a:cs typeface="+mn-cs"/>
        </a:defRPr>
      </a:lvl4pPr>
      <a:lvl5pPr marL="3016057" algn="l" defTabSz="1508028" rtl="0" eaLnBrk="1" latinLnBrk="0" hangingPunct="1">
        <a:defRPr sz="2969" kern="1200">
          <a:solidFill>
            <a:schemeClr val="tx1"/>
          </a:solidFill>
          <a:latin typeface="+mn-lt"/>
          <a:ea typeface="+mn-ea"/>
          <a:cs typeface="+mn-cs"/>
        </a:defRPr>
      </a:lvl5pPr>
      <a:lvl6pPr marL="3770071" algn="l" defTabSz="1508028" rtl="0" eaLnBrk="1" latinLnBrk="0" hangingPunct="1">
        <a:defRPr sz="2969" kern="1200">
          <a:solidFill>
            <a:schemeClr val="tx1"/>
          </a:solidFill>
          <a:latin typeface="+mn-lt"/>
          <a:ea typeface="+mn-ea"/>
          <a:cs typeface="+mn-cs"/>
        </a:defRPr>
      </a:lvl6pPr>
      <a:lvl7pPr marL="4524085" algn="l" defTabSz="1508028" rtl="0" eaLnBrk="1" latinLnBrk="0" hangingPunct="1">
        <a:defRPr sz="2969" kern="1200">
          <a:solidFill>
            <a:schemeClr val="tx1"/>
          </a:solidFill>
          <a:latin typeface="+mn-lt"/>
          <a:ea typeface="+mn-ea"/>
          <a:cs typeface="+mn-cs"/>
        </a:defRPr>
      </a:lvl7pPr>
      <a:lvl8pPr marL="5278100" algn="l" defTabSz="1508028" rtl="0" eaLnBrk="1" latinLnBrk="0" hangingPunct="1">
        <a:defRPr sz="2969" kern="1200">
          <a:solidFill>
            <a:schemeClr val="tx1"/>
          </a:solidFill>
          <a:latin typeface="+mn-lt"/>
          <a:ea typeface="+mn-ea"/>
          <a:cs typeface="+mn-cs"/>
        </a:defRPr>
      </a:lvl8pPr>
      <a:lvl9pPr marL="6032114" algn="l" defTabSz="1508028" rtl="0" eaLnBrk="1" latinLnBrk="0" hangingPunct="1">
        <a:defRPr sz="29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5" name="Google Shape;105;p14"/>
          <p:cNvSpPr/>
          <p:nvPr/>
        </p:nvSpPr>
        <p:spPr>
          <a:xfrm>
            <a:off x="3794760" y="1617663"/>
            <a:ext cx="13045440" cy="1425575"/>
          </a:xfrm>
          <a:prstGeom prst="rect">
            <a:avLst/>
          </a:prstGeom>
          <a:noFill/>
          <a:ln>
            <a:noFill/>
          </a:ln>
        </p:spPr>
        <p:txBody>
          <a:bodyPr spcFirstLastPara="1" wrap="square" lIns="91400" tIns="45700" rIns="91400" bIns="45700" anchor="t" anchorCtr="0">
            <a:noAutofit/>
          </a:bodyPr>
          <a:lstStyle/>
          <a:p>
            <a:pPr marL="0" marR="0" lvl="0" indent="0" algn="ctr" rtl="0">
              <a:lnSpc>
                <a:spcPct val="120000"/>
              </a:lnSpc>
              <a:spcBef>
                <a:spcPts val="0"/>
              </a:spcBef>
              <a:spcAft>
                <a:spcPts val="0"/>
              </a:spcAft>
              <a:buNone/>
            </a:pPr>
            <a:r>
              <a:rPr lang="en-IN" sz="6000" b="1" i="1" u="none" strike="noStrike" cap="none" dirty="0">
                <a:solidFill>
                  <a:srgbClr val="002060"/>
                </a:solidFill>
                <a:latin typeface="Arial Black"/>
                <a:ea typeface="Arial Black"/>
                <a:cs typeface="Arial Black"/>
                <a:sym typeface="Arial Black"/>
              </a:rPr>
              <a:t>Centre of Competence </a:t>
            </a:r>
          </a:p>
          <a:p>
            <a:pPr marL="0" marR="0" lvl="0" indent="0" algn="ctr" rtl="0">
              <a:lnSpc>
                <a:spcPct val="120000"/>
              </a:lnSpc>
              <a:spcBef>
                <a:spcPts val="0"/>
              </a:spcBef>
              <a:spcAft>
                <a:spcPts val="0"/>
              </a:spcAft>
              <a:buNone/>
            </a:pPr>
            <a:r>
              <a:rPr lang="en-IN" sz="6000" b="1" i="1" u="none" strike="noStrike" cap="none" dirty="0">
                <a:solidFill>
                  <a:srgbClr val="002060"/>
                </a:solidFill>
                <a:latin typeface="Arial Black"/>
                <a:ea typeface="Arial Black"/>
                <a:cs typeface="Arial Black"/>
                <a:sym typeface="Arial Black"/>
              </a:rPr>
              <a:t>in </a:t>
            </a:r>
          </a:p>
          <a:p>
            <a:pPr marL="0" marR="0" lvl="0" indent="0" algn="ctr" rtl="0">
              <a:lnSpc>
                <a:spcPct val="120000"/>
              </a:lnSpc>
              <a:spcBef>
                <a:spcPts val="0"/>
              </a:spcBef>
              <a:spcAft>
                <a:spcPts val="0"/>
              </a:spcAft>
              <a:buNone/>
            </a:pPr>
            <a:r>
              <a:rPr lang="en-IN" sz="6000" b="1" i="1" u="none" strike="noStrike" cap="none" dirty="0">
                <a:solidFill>
                  <a:srgbClr val="002060"/>
                </a:solidFill>
                <a:latin typeface="Arial Black"/>
                <a:ea typeface="Arial Black"/>
                <a:cs typeface="Arial Black"/>
                <a:sym typeface="Arial Black"/>
              </a:rPr>
              <a:t>Visual Computing</a:t>
            </a:r>
            <a:endParaRPr dirty="0"/>
          </a:p>
          <a:p>
            <a:pPr marL="0" marR="0" lvl="0" indent="0" algn="ctr" rtl="0">
              <a:lnSpc>
                <a:spcPct val="120000"/>
              </a:lnSpc>
              <a:spcBef>
                <a:spcPts val="0"/>
              </a:spcBef>
              <a:spcAft>
                <a:spcPts val="0"/>
              </a:spcAft>
              <a:buNone/>
            </a:pPr>
            <a:r>
              <a:rPr lang="en-IN" sz="6000" b="1" i="1" u="none" strike="noStrike" cap="none" dirty="0">
                <a:solidFill>
                  <a:srgbClr val="C00000"/>
                </a:solidFill>
                <a:latin typeface="Algerian"/>
                <a:ea typeface="Algerian"/>
                <a:cs typeface="Algerian"/>
                <a:sym typeface="Algerian"/>
              </a:rPr>
              <a:t> </a:t>
            </a:r>
            <a:endParaRPr sz="6000" b="1" i="1" u="none" strike="noStrike" cap="none" dirty="0">
              <a:solidFill>
                <a:srgbClr val="959595"/>
              </a:solidFill>
              <a:latin typeface="Algerian"/>
              <a:ea typeface="Algerian"/>
              <a:cs typeface="Algerian"/>
              <a:sym typeface="Algerian"/>
            </a:endParaRPr>
          </a:p>
        </p:txBody>
      </p:sp>
      <p:sp>
        <p:nvSpPr>
          <p:cNvPr id="106" name="Google Shape;106;p14"/>
          <p:cNvSpPr txBox="1"/>
          <p:nvPr/>
        </p:nvSpPr>
        <p:spPr>
          <a:xfrm>
            <a:off x="6431280" y="6098223"/>
            <a:ext cx="7772400" cy="628650"/>
          </a:xfrm>
          <a:prstGeom prst="rect">
            <a:avLst/>
          </a:prstGeom>
          <a:noFill/>
          <a:ln>
            <a:noFill/>
          </a:ln>
        </p:spPr>
        <p:txBody>
          <a:bodyPr spcFirstLastPara="1" wrap="square" lIns="91400" tIns="45700" rIns="91400" bIns="45700" anchor="t" anchorCtr="0">
            <a:noAutofit/>
          </a:bodyPr>
          <a:lstStyle/>
          <a:p>
            <a:pPr marL="0" marR="0" lvl="0" indent="0" algn="ctr" rtl="0">
              <a:spcBef>
                <a:spcPts val="0"/>
              </a:spcBef>
              <a:spcAft>
                <a:spcPts val="0"/>
              </a:spcAft>
              <a:buNone/>
            </a:pPr>
            <a:r>
              <a:rPr lang="en-IN" sz="3600" b="1" i="1" u="none" strike="noStrike" cap="none" dirty="0">
                <a:solidFill>
                  <a:srgbClr val="FF0000"/>
                </a:solidFill>
                <a:latin typeface="Times New Roman"/>
                <a:ea typeface="Times New Roman"/>
                <a:cs typeface="Times New Roman"/>
                <a:sym typeface="Times New Roman"/>
              </a:rPr>
              <a:t>Internship Phase II presentation</a:t>
            </a:r>
            <a:endParaRPr dirty="0">
              <a:solidFill>
                <a:srgbClr val="FF0000"/>
              </a:solidFill>
            </a:endParaRPr>
          </a:p>
          <a:p>
            <a:pPr marL="0" marR="0" lvl="0" indent="0" algn="ctr" rtl="0">
              <a:spcBef>
                <a:spcPts val="0"/>
              </a:spcBef>
              <a:spcAft>
                <a:spcPts val="0"/>
              </a:spcAft>
              <a:buNone/>
            </a:pPr>
            <a:r>
              <a:rPr lang="en-IN" sz="3600" b="1" i="1" u="none" strike="noStrike" cap="none" dirty="0">
                <a:solidFill>
                  <a:srgbClr val="FF0000"/>
                </a:solidFill>
                <a:latin typeface="Times New Roman"/>
                <a:ea typeface="Times New Roman"/>
                <a:cs typeface="Times New Roman"/>
                <a:sym typeface="Times New Roman"/>
              </a:rPr>
              <a:t> </a:t>
            </a:r>
            <a:endParaRPr dirty="0">
              <a:solidFill>
                <a:srgbClr val="FF0000"/>
              </a:solidFill>
            </a:endParaRPr>
          </a:p>
        </p:txBody>
      </p:sp>
      <p:sp>
        <p:nvSpPr>
          <p:cNvPr id="107" name="Google Shape;107;p14"/>
          <p:cNvSpPr txBox="1"/>
          <p:nvPr/>
        </p:nvSpPr>
        <p:spPr>
          <a:xfrm>
            <a:off x="3609160" y="7213614"/>
            <a:ext cx="12444589" cy="2636340"/>
          </a:xfrm>
          <a:prstGeom prst="rect">
            <a:avLst/>
          </a:prstGeom>
          <a:noFill/>
          <a:ln>
            <a:noFill/>
          </a:ln>
        </p:spPr>
        <p:txBody>
          <a:bodyPr spcFirstLastPara="1" wrap="square" lIns="91400" tIns="45700" rIns="91400" bIns="45700" anchor="t" anchorCtr="0">
            <a:noAutofit/>
          </a:bodyPr>
          <a:lstStyle/>
          <a:p>
            <a:pPr marL="341313" marR="0" lvl="0" indent="-341313" algn="ctr" rtl="0">
              <a:spcBef>
                <a:spcPts val="0"/>
              </a:spcBef>
              <a:spcAft>
                <a:spcPts val="0"/>
              </a:spcAft>
              <a:buNone/>
            </a:pPr>
            <a:r>
              <a:rPr lang="en-IN" sz="3600" b="1" i="1">
                <a:solidFill>
                  <a:srgbClr val="002060"/>
                </a:solidFill>
                <a:latin typeface="Times New Roman"/>
                <a:ea typeface="Times New Roman"/>
                <a:cs typeface="Times New Roman"/>
                <a:sym typeface="Times New Roman"/>
              </a:rPr>
              <a:t>Bone Marrow Cells Classification using Deep Learning</a:t>
            </a:r>
            <a:endParaRPr lang="en-IN" sz="3600" b="1" i="1" dirty="0">
              <a:solidFill>
                <a:srgbClr val="002060"/>
              </a:solidFill>
              <a:latin typeface="Times New Roman"/>
              <a:ea typeface="Times New Roman"/>
              <a:cs typeface="Times New Roman"/>
              <a:sym typeface="Times New Roman"/>
            </a:endParaRPr>
          </a:p>
          <a:p>
            <a:pPr marL="341313" marR="0" lvl="0" indent="-341313" algn="ctr" rtl="0">
              <a:spcBef>
                <a:spcPts val="0"/>
              </a:spcBef>
              <a:spcAft>
                <a:spcPts val="0"/>
              </a:spcAft>
              <a:buNone/>
            </a:pPr>
            <a:r>
              <a:rPr lang="en-IN" sz="3600" b="1" i="1" dirty="0">
                <a:solidFill>
                  <a:srgbClr val="002060"/>
                </a:solidFill>
                <a:latin typeface="Times New Roman"/>
                <a:cs typeface="Times New Roman"/>
                <a:sym typeface="Times New Roman"/>
              </a:rPr>
              <a:t>Under the Guidance of</a:t>
            </a:r>
          </a:p>
          <a:p>
            <a:pPr marL="341313" marR="0" lvl="0" indent="-341313" algn="ctr" rtl="0">
              <a:spcBef>
                <a:spcPts val="0"/>
              </a:spcBef>
              <a:spcAft>
                <a:spcPts val="0"/>
              </a:spcAft>
              <a:buNone/>
            </a:pPr>
            <a:r>
              <a:rPr lang="en-IN" sz="3600" b="1" i="1">
                <a:solidFill>
                  <a:srgbClr val="002060"/>
                </a:solidFill>
                <a:latin typeface="Times New Roman"/>
                <a:cs typeface="Times New Roman"/>
                <a:sym typeface="Times New Roman"/>
              </a:rPr>
              <a:t>Prof. Srividya M S</a:t>
            </a:r>
            <a:endParaRPr sz="3600" dirty="0"/>
          </a:p>
        </p:txBody>
      </p:sp>
      <p:sp>
        <p:nvSpPr>
          <p:cNvPr id="8" name="TextBox 7">
            <a:extLst>
              <a:ext uri="{FF2B5EF4-FFF2-40B4-BE49-F238E27FC236}">
                <a16:creationId xmlns:a16="http://schemas.microsoft.com/office/drawing/2014/main" id="{B42300D8-8CE2-4FF1-AD0D-AFA69E7C6A90}"/>
              </a:ext>
            </a:extLst>
          </p:cNvPr>
          <p:cNvSpPr txBox="1"/>
          <p:nvPr/>
        </p:nvSpPr>
        <p:spPr>
          <a:xfrm>
            <a:off x="12954000" y="8610324"/>
            <a:ext cx="7772400" cy="1590179"/>
          </a:xfrm>
          <a:prstGeom prst="rect">
            <a:avLst/>
          </a:prstGeom>
          <a:noFill/>
        </p:spPr>
        <p:txBody>
          <a:bodyPr wrap="square">
            <a:spAutoFit/>
          </a:bodyPr>
          <a:lstStyle/>
          <a:p>
            <a:pPr marL="341312" marR="0" lvl="0" indent="-341312" rtl="0">
              <a:spcBef>
                <a:spcPts val="800"/>
              </a:spcBef>
              <a:spcAft>
                <a:spcPts val="0"/>
              </a:spcAft>
              <a:buNone/>
            </a:pPr>
            <a:r>
              <a:rPr lang="en-IN" sz="2800" b="1" i="1">
                <a:solidFill>
                  <a:srgbClr val="FF0000"/>
                </a:solidFill>
                <a:latin typeface="Times New Roman"/>
                <a:ea typeface="Times New Roman"/>
                <a:cs typeface="Times New Roman"/>
                <a:sym typeface="Times New Roman"/>
              </a:rPr>
              <a:t>Team Members :</a:t>
            </a:r>
          </a:p>
          <a:p>
            <a:pPr marL="341312" marR="0" lvl="0" indent="-341312" rtl="0">
              <a:spcBef>
                <a:spcPts val="800"/>
              </a:spcBef>
              <a:spcAft>
                <a:spcPts val="0"/>
              </a:spcAft>
              <a:buNone/>
            </a:pPr>
            <a:r>
              <a:rPr lang="en-IN" sz="2800" b="1" i="1">
                <a:solidFill>
                  <a:srgbClr val="FF0000"/>
                </a:solidFill>
                <a:latin typeface="Times New Roman"/>
                <a:ea typeface="Times New Roman"/>
                <a:cs typeface="Times New Roman"/>
                <a:sym typeface="Times New Roman"/>
              </a:rPr>
              <a:t>Soubhagya Aravind Gangoor(1RV24SCS14)</a:t>
            </a:r>
          </a:p>
          <a:p>
            <a:pPr marL="341312" marR="0" lvl="0" indent="-341312" rtl="0">
              <a:spcBef>
                <a:spcPts val="800"/>
              </a:spcBef>
              <a:spcAft>
                <a:spcPts val="0"/>
              </a:spcAft>
              <a:buNone/>
            </a:pPr>
            <a:r>
              <a:rPr lang="en-IN" sz="2800" b="1" i="1">
                <a:solidFill>
                  <a:srgbClr val="FF0000"/>
                </a:solidFill>
                <a:latin typeface="Times New Roman"/>
                <a:ea typeface="Times New Roman"/>
                <a:cs typeface="Times New Roman"/>
                <a:sym typeface="Times New Roman"/>
              </a:rPr>
              <a:t>Veerasagar S S(1RV24SCS17)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descr="Evaluation Clipart Course Outline - Evaluation Icon , Free ..."/>
          <p:cNvSpPr/>
          <p:nvPr/>
        </p:nvSpPr>
        <p:spPr>
          <a:xfrm>
            <a:off x="215900" y="-2667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500">
              <a:solidFill>
                <a:schemeClr val="dk1"/>
              </a:solidFill>
              <a:latin typeface="Arial"/>
              <a:ea typeface="Arial"/>
              <a:cs typeface="Arial"/>
              <a:sym typeface="Arial"/>
            </a:endParaRPr>
          </a:p>
        </p:txBody>
      </p:sp>
      <p:sp>
        <p:nvSpPr>
          <p:cNvPr id="114" name="Google Shape;114;p15"/>
          <p:cNvSpPr txBox="1"/>
          <p:nvPr/>
        </p:nvSpPr>
        <p:spPr>
          <a:xfrm>
            <a:off x="10620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Introduction </a:t>
            </a:r>
            <a:endParaRPr sz="7000" b="1" dirty="0">
              <a:solidFill>
                <a:srgbClr val="C00000"/>
              </a:solidFill>
              <a:latin typeface="Times New Roman"/>
              <a:ea typeface="Times New Roman"/>
              <a:cs typeface="Times New Roman"/>
              <a:sym typeface="Times New Roman"/>
            </a:endParaRPr>
          </a:p>
        </p:txBody>
      </p:sp>
      <p:sp>
        <p:nvSpPr>
          <p:cNvPr id="116" name="Google Shape;116;p15"/>
          <p:cNvSpPr txBox="1"/>
          <p:nvPr/>
        </p:nvSpPr>
        <p:spPr>
          <a:xfrm>
            <a:off x="1932496" y="2793473"/>
            <a:ext cx="16600602" cy="7882075"/>
          </a:xfrm>
          <a:prstGeom prst="rect">
            <a:avLst/>
          </a:prstGeom>
          <a:noFill/>
          <a:ln>
            <a:noFill/>
          </a:ln>
        </p:spPr>
        <p:txBody>
          <a:bodyPr spcFirstLastPara="1" wrap="square" lIns="91425" tIns="91425" rIns="91425" bIns="91425" anchor="t" anchorCtr="0">
            <a:noAutofit/>
          </a:bodyPr>
          <a:lstStyle/>
          <a:p>
            <a:pPr algn="just">
              <a:buFont typeface="Arial" panose="020B0604020202020204" pitchFamily="34" charset="0"/>
              <a:buNone/>
            </a:pPr>
            <a:r>
              <a:rPr lang="en-US" sz="3600" dirty="0"/>
              <a:t>Bone marrow is one of the most important parts of the human body as it produces blood cells. Identifying different types of bone marrow cells is essential for diagnosing diseases such as leukemia, anemia, and other blood disorders. Traditionally, doctors examine bone marrow samples manually under a microscope, which takes a lot of time and can lead to human errors. This project focuses on using </a:t>
            </a:r>
            <a:r>
              <a:rPr lang="en-US" sz="3600" b="1" dirty="0"/>
              <a:t>Deep Learning</a:t>
            </a:r>
            <a:r>
              <a:rPr lang="en-US" sz="3600" dirty="0"/>
              <a:t> techniques to automatically classify bone marrow cells from microscopic images. By training computer models like </a:t>
            </a:r>
            <a:r>
              <a:rPr lang="en-US" sz="3600" b="1" dirty="0"/>
              <a:t>Convolutional Neural Networks (CNNs)</a:t>
            </a:r>
            <a:r>
              <a:rPr lang="en-US" sz="3600" dirty="0"/>
              <a:t>, we can make the classification process faster, more accurate, and more consistent. The main goal is to support pathologists with a reliable computer-based tool that improves diagnosis quality.</a:t>
            </a:r>
            <a:endParaRPr lang="en-IN" alt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descr="Evaluation Clipart Course Outline - Evaluation Icon , Free ..."/>
          <p:cNvSpPr/>
          <p:nvPr/>
        </p:nvSpPr>
        <p:spPr>
          <a:xfrm>
            <a:off x="215900" y="-2667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500">
              <a:solidFill>
                <a:schemeClr val="dk1"/>
              </a:solidFill>
              <a:latin typeface="Arial"/>
              <a:ea typeface="Arial"/>
              <a:cs typeface="Arial"/>
              <a:sym typeface="Arial"/>
            </a:endParaRPr>
          </a:p>
        </p:txBody>
      </p:sp>
      <p:sp>
        <p:nvSpPr>
          <p:cNvPr id="114" name="Google Shape;114;p15"/>
          <p:cNvSpPr txBox="1"/>
          <p:nvPr/>
        </p:nvSpPr>
        <p:spPr>
          <a:xfrm>
            <a:off x="10620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Literature </a:t>
            </a:r>
            <a:r>
              <a:rPr lang="en-IN" sz="7000" b="1" dirty="0" err="1">
                <a:solidFill>
                  <a:srgbClr val="C00000"/>
                </a:solidFill>
                <a:latin typeface="Times New Roman"/>
                <a:ea typeface="Times New Roman"/>
                <a:cs typeface="Times New Roman"/>
                <a:sym typeface="Times New Roman"/>
              </a:rPr>
              <a:t>Rieview</a:t>
            </a:r>
            <a:r>
              <a:rPr lang="en-IN" sz="7000" b="1" dirty="0">
                <a:solidFill>
                  <a:srgbClr val="C00000"/>
                </a:solidFill>
                <a:latin typeface="Times New Roman"/>
                <a:ea typeface="Times New Roman"/>
                <a:cs typeface="Times New Roman"/>
                <a:sym typeface="Times New Roman"/>
              </a:rPr>
              <a:t>- Summary </a:t>
            </a:r>
            <a:endParaRPr sz="7000" b="1" dirty="0">
              <a:solidFill>
                <a:srgbClr val="C00000"/>
              </a:solidFill>
              <a:latin typeface="Times New Roman"/>
              <a:ea typeface="Times New Roman"/>
              <a:cs typeface="Times New Roman"/>
              <a:sym typeface="Times New Roman"/>
            </a:endParaRPr>
          </a:p>
        </p:txBody>
      </p:sp>
      <p:sp>
        <p:nvSpPr>
          <p:cNvPr id="116" name="Google Shape;116;p15"/>
          <p:cNvSpPr txBox="1"/>
          <p:nvPr/>
        </p:nvSpPr>
        <p:spPr>
          <a:xfrm>
            <a:off x="1979629" y="2922309"/>
            <a:ext cx="16581748" cy="7555280"/>
          </a:xfrm>
          <a:prstGeom prst="rect">
            <a:avLst/>
          </a:prstGeom>
          <a:noFill/>
          <a:ln>
            <a:noFill/>
          </a:ln>
        </p:spPr>
        <p:txBody>
          <a:bodyPr spcFirstLastPara="1" wrap="square" lIns="91425" tIns="91425" rIns="91425" bIns="91425" anchor="t" anchorCtr="0">
            <a:noAutofit/>
          </a:bodyPr>
          <a:lstStyle/>
          <a:p>
            <a:pPr algn="just">
              <a:buFont typeface="Arial" panose="020B0604020202020204" pitchFamily="34" charset="0"/>
              <a:buNone/>
            </a:pPr>
            <a:r>
              <a:rPr lang="en-US" sz="3600" dirty="0"/>
              <a:t>In recent years, </a:t>
            </a:r>
            <a:r>
              <a:rPr lang="en-US" sz="3600" b="1" dirty="0"/>
              <a:t>Deep Learning</a:t>
            </a:r>
            <a:r>
              <a:rPr lang="en-US" sz="3600" dirty="0"/>
              <a:t> has shown remarkable progress in the field of medical image analysis. Models such as </a:t>
            </a:r>
            <a:r>
              <a:rPr lang="en-US" sz="3600" b="1" dirty="0"/>
              <a:t>ResNet-50</a:t>
            </a:r>
            <a:r>
              <a:rPr lang="en-US" sz="3600" dirty="0"/>
              <a:t> and </a:t>
            </a:r>
            <a:r>
              <a:rPr lang="en-US" sz="3600" b="1" dirty="0" err="1"/>
              <a:t>EfficientNet</a:t>
            </a:r>
            <a:r>
              <a:rPr lang="en-US" sz="3600" dirty="0"/>
              <a:t> (both CNN architectures) have achieved high accuracy in image classification tasks like cancer detection and blood cell identification. However, CNNs often face challenges when there are </a:t>
            </a:r>
            <a:r>
              <a:rPr lang="en-US" sz="3600" b="1" dirty="0"/>
              <a:t>imbalanced datasets</a:t>
            </a:r>
            <a:r>
              <a:rPr lang="en-US" sz="3600" dirty="0"/>
              <a:t> or when the images have </a:t>
            </a:r>
            <a:r>
              <a:rPr lang="en-US" sz="3600" b="1" dirty="0"/>
              <a:t>very subtle </a:t>
            </a:r>
            <a:r>
              <a:rPr lang="en-US" sz="3600" b="1" dirty="0" err="1"/>
              <a:t>differences</a:t>
            </a:r>
            <a:r>
              <a:rPr lang="en-US" sz="3600" dirty="0" err="1"/>
              <a:t>.Newer</a:t>
            </a:r>
            <a:r>
              <a:rPr lang="en-US" sz="3600" dirty="0"/>
              <a:t> models known as </a:t>
            </a:r>
            <a:r>
              <a:rPr lang="en-US" sz="3600" b="1" dirty="0"/>
              <a:t>Vision Transformers (</a:t>
            </a:r>
            <a:r>
              <a:rPr lang="en-US" sz="3600" b="1" dirty="0" err="1"/>
              <a:t>ViTs</a:t>
            </a:r>
            <a:r>
              <a:rPr lang="en-US" sz="3600" b="1" dirty="0"/>
              <a:t>)</a:t>
            </a:r>
            <a:r>
              <a:rPr lang="en-US" sz="3600" dirty="0"/>
              <a:t> treat an image as a collection of small patches and can learn relationships between different parts of the image. Studies have shown that </a:t>
            </a:r>
            <a:r>
              <a:rPr lang="en-US" sz="3600" dirty="0" err="1"/>
              <a:t>ViTs</a:t>
            </a:r>
            <a:r>
              <a:rPr lang="en-US" sz="3600" dirty="0"/>
              <a:t> perform better than CNNs in fine-grained classification problems. Despite this, their use in </a:t>
            </a:r>
            <a:r>
              <a:rPr lang="en-US" sz="3600" b="1" dirty="0"/>
              <a:t>bone marrow cell classification</a:t>
            </a:r>
            <a:r>
              <a:rPr lang="en-US" sz="3600" dirty="0"/>
              <a:t> is still limited, creating a research gap. This project aims to explore both CNNs and </a:t>
            </a:r>
            <a:r>
              <a:rPr lang="en-US" sz="3600" dirty="0" err="1"/>
              <a:t>ViTs</a:t>
            </a:r>
            <a:r>
              <a:rPr lang="en-US" sz="3600" dirty="0"/>
              <a:t> to find which performs better in this domain.</a:t>
            </a:r>
            <a:endParaRPr lang="en-IN" altLang="en-US" sz="3600" dirty="0"/>
          </a:p>
        </p:txBody>
      </p:sp>
    </p:spTree>
    <p:extLst>
      <p:ext uri="{BB962C8B-B14F-4D97-AF65-F5344CB8AC3E}">
        <p14:creationId xmlns:p14="http://schemas.microsoft.com/office/powerpoint/2010/main" val="4080255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2"/>
          <p:cNvSpPr txBox="1"/>
          <p:nvPr/>
        </p:nvSpPr>
        <p:spPr>
          <a:xfrm>
            <a:off x="15192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a:solidFill>
                  <a:srgbClr val="C00000"/>
                </a:solidFill>
                <a:latin typeface="Times New Roman"/>
                <a:ea typeface="Times New Roman"/>
                <a:cs typeface="Times New Roman"/>
                <a:sym typeface="Times New Roman"/>
              </a:rPr>
              <a:t>Objectives</a:t>
            </a:r>
            <a:endParaRPr sz="7000" b="1">
              <a:solidFill>
                <a:srgbClr val="C00000"/>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C9D15C29-1D80-0A84-015C-86A81D0823B4}"/>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6" name="Rectangle 3">
            <a:extLst>
              <a:ext uri="{FF2B5EF4-FFF2-40B4-BE49-F238E27FC236}">
                <a16:creationId xmlns:a16="http://schemas.microsoft.com/office/drawing/2014/main" id="{E00D2E51-0AA6-7477-2E69-6FC0D89146EC}"/>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8" name="Rectangle 4">
            <a:extLst>
              <a:ext uri="{FF2B5EF4-FFF2-40B4-BE49-F238E27FC236}">
                <a16:creationId xmlns:a16="http://schemas.microsoft.com/office/drawing/2014/main" id="{60BE9B83-CA4E-75EE-1D56-9514A4A7772C}"/>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9" name="TextBox 8">
            <a:extLst>
              <a:ext uri="{FF2B5EF4-FFF2-40B4-BE49-F238E27FC236}">
                <a16:creationId xmlns:a16="http://schemas.microsoft.com/office/drawing/2014/main" id="{70DD5C66-A23A-6585-65D6-BCFF63FB9167}"/>
              </a:ext>
            </a:extLst>
          </p:cNvPr>
          <p:cNvSpPr txBox="1"/>
          <p:nvPr/>
        </p:nvSpPr>
        <p:spPr>
          <a:xfrm>
            <a:off x="1519238" y="2830749"/>
            <a:ext cx="16934132" cy="666400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3200"/>
              <a:t>To build a </a:t>
            </a:r>
            <a:r>
              <a:rPr lang="en-US" sz="3200" b="1"/>
              <a:t>Deep Learning model</a:t>
            </a:r>
            <a:r>
              <a:rPr lang="en-US" sz="3200"/>
              <a:t> that can accurately classify bone marrow cells into 14 types.</a:t>
            </a:r>
          </a:p>
          <a:p>
            <a:pPr marL="285750" indent="-285750" algn="just">
              <a:lnSpc>
                <a:spcPct val="150000"/>
              </a:lnSpc>
              <a:buFont typeface="Arial" panose="020B0604020202020204" pitchFamily="34" charset="0"/>
              <a:buChar char="•"/>
            </a:pPr>
            <a:r>
              <a:rPr lang="en-US" sz="3200"/>
              <a:t>To </a:t>
            </a:r>
            <a:r>
              <a:rPr lang="en-US" sz="3200" b="1"/>
              <a:t>compare</a:t>
            </a:r>
            <a:r>
              <a:rPr lang="en-US" sz="3200"/>
              <a:t> the performance of CNN-based models (ResNet-50, EfficientNet) with Transformer-based models (ViT).</a:t>
            </a:r>
          </a:p>
          <a:p>
            <a:pPr marL="285750" indent="-285750" algn="just">
              <a:lnSpc>
                <a:spcPct val="150000"/>
              </a:lnSpc>
              <a:buFont typeface="Arial" panose="020B0604020202020204" pitchFamily="34" charset="0"/>
              <a:buChar char="•"/>
            </a:pPr>
            <a:r>
              <a:rPr lang="en-US" sz="3200"/>
              <a:t>To handle </a:t>
            </a:r>
            <a:r>
              <a:rPr lang="en-US" sz="3200" b="1"/>
              <a:t>data imbalance</a:t>
            </a:r>
            <a:r>
              <a:rPr lang="en-US" sz="3200"/>
              <a:t> and subtle visual differences between cell types using image preprocessing and data augmentation.</a:t>
            </a:r>
          </a:p>
          <a:p>
            <a:pPr marL="285750" indent="-285750" algn="just">
              <a:lnSpc>
                <a:spcPct val="150000"/>
              </a:lnSpc>
              <a:buFont typeface="Arial" panose="020B0604020202020204" pitchFamily="34" charset="0"/>
              <a:buChar char="•"/>
            </a:pPr>
            <a:r>
              <a:rPr lang="en-US" sz="3200"/>
              <a:t>To evaluate the models using metrics such as </a:t>
            </a:r>
            <a:r>
              <a:rPr lang="en-US" sz="3200" b="1"/>
              <a:t>accuracy, precision, recall, and F1-score</a:t>
            </a:r>
            <a:r>
              <a:rPr lang="en-US" sz="3200"/>
              <a:t>.</a:t>
            </a:r>
          </a:p>
          <a:p>
            <a:pPr marL="285750" indent="-285750" algn="just">
              <a:lnSpc>
                <a:spcPct val="150000"/>
              </a:lnSpc>
              <a:buFont typeface="Arial" panose="020B0604020202020204" pitchFamily="34" charset="0"/>
              <a:buChar char="•"/>
            </a:pPr>
            <a:r>
              <a:rPr lang="en-US" sz="3200"/>
              <a:t>To develop an </a:t>
            </a:r>
            <a:r>
              <a:rPr lang="en-US" sz="3200" b="1"/>
              <a:t>automated and scalable system</a:t>
            </a:r>
            <a:r>
              <a:rPr lang="en-US" sz="3200"/>
              <a:t> that helps doctors and researchers diagnose blood-related diseases faster and more accurately.</a:t>
            </a:r>
          </a:p>
          <a:p>
            <a:pPr marL="285750" indent="-285750" algn="just">
              <a:lnSpc>
                <a:spcPct val="150000"/>
              </a:lnSpc>
              <a:buFont typeface="Arial" panose="020B0604020202020204" pitchFamily="34" charset="0"/>
              <a:buChar char="•"/>
            </a:pPr>
            <a:endParaRPr lang="en-IN"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2"/>
          <p:cNvSpPr txBox="1"/>
          <p:nvPr/>
        </p:nvSpPr>
        <p:spPr>
          <a:xfrm>
            <a:off x="1057323" y="122551"/>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Problem Statement</a:t>
            </a:r>
            <a:endParaRPr sz="7000" b="1" dirty="0">
              <a:solidFill>
                <a:srgbClr val="C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5F24230D-9C17-D760-2659-1F2FE8267549}"/>
              </a:ext>
            </a:extLst>
          </p:cNvPr>
          <p:cNvSpPr txBox="1"/>
          <p:nvPr/>
        </p:nvSpPr>
        <p:spPr>
          <a:xfrm>
            <a:off x="1970202" y="3063707"/>
            <a:ext cx="16449773" cy="6740307"/>
          </a:xfrm>
          <a:prstGeom prst="rect">
            <a:avLst/>
          </a:prstGeom>
          <a:noFill/>
        </p:spPr>
        <p:txBody>
          <a:bodyPr wrap="square" rtlCol="0">
            <a:spAutoFit/>
          </a:bodyPr>
          <a:lstStyle/>
          <a:p>
            <a:pPr algn="just">
              <a:buFont typeface="Arial" panose="020B0604020202020204" pitchFamily="34" charset="0"/>
              <a:buNone/>
            </a:pPr>
            <a:r>
              <a:rPr lang="en-US" sz="3600" dirty="0"/>
              <a:t>Manual bone marrow cell classification is slow, tiring, and depends heavily on human expertise. Pathologists must carefully observe each cell under a microscope, which can lead to </a:t>
            </a:r>
            <a:r>
              <a:rPr lang="en-US" sz="3600" b="1" dirty="0"/>
              <a:t>fatigue and inconsistent results</a:t>
            </a:r>
            <a:r>
              <a:rPr lang="en-US" sz="3600" dirty="0"/>
              <a:t>. Some cell types appear rarely, creating a </a:t>
            </a:r>
            <a:r>
              <a:rPr lang="en-US" sz="3600" b="1" dirty="0"/>
              <a:t>class imbalance</a:t>
            </a:r>
            <a:r>
              <a:rPr lang="en-US" sz="3600" dirty="0"/>
              <a:t>, while others look visually very similar, making them </a:t>
            </a:r>
            <a:r>
              <a:rPr lang="en-US" sz="3600" b="1" dirty="0"/>
              <a:t>hard to differentiate</a:t>
            </a:r>
            <a:r>
              <a:rPr lang="en-US" sz="3600" dirty="0"/>
              <a:t>.</a:t>
            </a:r>
            <a:br>
              <a:rPr lang="en-US" sz="3600" dirty="0"/>
            </a:br>
            <a:r>
              <a:rPr lang="en-US" sz="3600" dirty="0"/>
              <a:t>The main problem is to design a </a:t>
            </a:r>
            <a:r>
              <a:rPr lang="en-US" sz="3600" b="1" dirty="0"/>
              <a:t>Deep Learning model</a:t>
            </a:r>
            <a:r>
              <a:rPr lang="en-US" sz="3600" dirty="0"/>
              <a:t> that can handle these challenges—learning to identify both common and rare cell types accurately and providing consistent classification results that assist medical professionals.</a:t>
            </a:r>
          </a:p>
          <a:p>
            <a:pPr algn="just">
              <a:buFont typeface="Arial" panose="020B0604020202020204" pitchFamily="34" charset="0"/>
              <a:buNone/>
            </a:pPr>
            <a:endParaRPr lang="en-US" sz="3600" dirty="0"/>
          </a:p>
          <a:p>
            <a:pPr algn="just"/>
            <a:r>
              <a:rPr lang="en-US" sz="3600" dirty="0"/>
              <a:t>“Develop a deep learning model capable of accurately classifying different types of bone marrow cells and Handle class imbalance effectively to ensure reliable performance across all cell types.”</a:t>
            </a:r>
          </a:p>
          <a:p>
            <a:pPr algn="just">
              <a:buFont typeface="Arial" panose="020B0604020202020204" pitchFamily="34" charset="0"/>
              <a:buNone/>
            </a:pPr>
            <a:endParaRPr lang="en-IN"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4775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62BE-0447-48EC-A1D9-0A718ECC20D0}"/>
              </a:ext>
            </a:extLst>
          </p:cNvPr>
          <p:cNvSpPr>
            <a:spLocks noGrp="1"/>
          </p:cNvSpPr>
          <p:nvPr>
            <p:ph type="title"/>
          </p:nvPr>
        </p:nvSpPr>
        <p:spPr>
          <a:xfrm>
            <a:off x="1809655" y="472697"/>
            <a:ext cx="16588502" cy="1158311"/>
          </a:xfrm>
        </p:spPr>
        <p:txBody>
          <a:bodyPr/>
          <a:lstStyle/>
          <a:p>
            <a:pPr algn="ctr"/>
            <a:r>
              <a:rPr lang="en-IN" sz="8000" b="1" dirty="0">
                <a:solidFill>
                  <a:srgbClr val="C00000"/>
                </a:solidFill>
                <a:latin typeface="Times New Roman"/>
                <a:cs typeface="Times New Roman"/>
              </a:rPr>
              <a:t>Engineering Knowledge</a:t>
            </a:r>
            <a:endParaRPr lang="en-IN" dirty="0"/>
          </a:p>
        </p:txBody>
      </p:sp>
      <p:sp>
        <p:nvSpPr>
          <p:cNvPr id="4" name="TextBox 3">
            <a:extLst>
              <a:ext uri="{FF2B5EF4-FFF2-40B4-BE49-F238E27FC236}">
                <a16:creationId xmlns:a16="http://schemas.microsoft.com/office/drawing/2014/main" id="{67857B3C-CBBE-85A0-0169-01423A0C2390}"/>
              </a:ext>
            </a:extLst>
          </p:cNvPr>
          <p:cNvSpPr txBox="1"/>
          <p:nvPr/>
        </p:nvSpPr>
        <p:spPr>
          <a:xfrm>
            <a:off x="2036190" y="2978868"/>
            <a:ext cx="16270664" cy="4524315"/>
          </a:xfrm>
          <a:prstGeom prst="rect">
            <a:avLst/>
          </a:prstGeom>
          <a:noFill/>
        </p:spPr>
        <p:txBody>
          <a:bodyPr wrap="square" rtlCol="0">
            <a:spAutoFit/>
          </a:bodyPr>
          <a:lstStyle/>
          <a:p>
            <a:pPr algn="just"/>
            <a:r>
              <a:rPr lang="en-US" sz="3600"/>
              <a:t>The project uses a combination of </a:t>
            </a:r>
            <a:r>
              <a:rPr lang="en-US" sz="3600" b="1"/>
              <a:t>Artificial Intelligence, Deep Learning, and Image Processing</a:t>
            </a:r>
            <a:r>
              <a:rPr lang="en-US" sz="3600"/>
              <a:t> concepts. Knowledge of </a:t>
            </a:r>
            <a:r>
              <a:rPr lang="en-US" sz="3600" b="1"/>
              <a:t>Python programming</a:t>
            </a:r>
            <a:r>
              <a:rPr lang="en-US" sz="3600"/>
              <a:t> and libraries such as </a:t>
            </a:r>
            <a:r>
              <a:rPr lang="en-US" sz="3600" b="1"/>
              <a:t>TensorFlow, Keras, and OpenCV</a:t>
            </a:r>
            <a:r>
              <a:rPr lang="en-US" sz="3600"/>
              <a:t> was applied to build and train the models.</a:t>
            </a:r>
            <a:br>
              <a:rPr lang="en-US" sz="3600"/>
            </a:br>
            <a:r>
              <a:rPr lang="en-US" sz="3600"/>
              <a:t>We applied engineering principles such as problem analysis, model design, performance testing, and optimization. Understanding how CNNs extract spatial features and how ViTs use attention mechanisms helped in developing a better solution. This integration of software engineering, machine learning, and domain knowledge showcases strong technical application of engineering skills.</a:t>
            </a:r>
            <a:endParaRPr lang="en-US" altLang="en-US" sz="3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3943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62BE-0447-48EC-A1D9-0A718ECC20D0}"/>
              </a:ext>
            </a:extLst>
          </p:cNvPr>
          <p:cNvSpPr>
            <a:spLocks noGrp="1"/>
          </p:cNvSpPr>
          <p:nvPr>
            <p:ph type="title"/>
          </p:nvPr>
        </p:nvSpPr>
        <p:spPr>
          <a:xfrm>
            <a:off x="1809655" y="472697"/>
            <a:ext cx="16588502" cy="1158311"/>
          </a:xfrm>
        </p:spPr>
        <p:txBody>
          <a:bodyPr>
            <a:normAutofit/>
          </a:bodyPr>
          <a:lstStyle/>
          <a:p>
            <a:pPr algn="ctr"/>
            <a:r>
              <a:rPr lang="en-IN" sz="8000" b="1" dirty="0">
                <a:solidFill>
                  <a:srgbClr val="C00000"/>
                </a:solidFill>
                <a:latin typeface="Times New Roman"/>
                <a:cs typeface="Times New Roman"/>
              </a:rPr>
              <a:t>Resource Management</a:t>
            </a:r>
            <a:endParaRPr lang="en-IN" dirty="0"/>
          </a:p>
        </p:txBody>
      </p:sp>
      <p:sp>
        <p:nvSpPr>
          <p:cNvPr id="4" name="TextBox 3">
            <a:extLst>
              <a:ext uri="{FF2B5EF4-FFF2-40B4-BE49-F238E27FC236}">
                <a16:creationId xmlns:a16="http://schemas.microsoft.com/office/drawing/2014/main" id="{63F09DDC-E9A0-9E0E-90E3-4FBB743306C6}"/>
              </a:ext>
            </a:extLst>
          </p:cNvPr>
          <p:cNvSpPr txBox="1"/>
          <p:nvPr/>
        </p:nvSpPr>
        <p:spPr>
          <a:xfrm>
            <a:off x="2017336" y="3176833"/>
            <a:ext cx="16380821" cy="3970318"/>
          </a:xfrm>
          <a:prstGeom prst="rect">
            <a:avLst/>
          </a:prstGeom>
          <a:noFill/>
        </p:spPr>
        <p:txBody>
          <a:bodyPr wrap="square" rtlCol="0">
            <a:spAutoFit/>
          </a:bodyPr>
          <a:lstStyle/>
          <a:p>
            <a:pPr algn="just">
              <a:buFont typeface="Arial" panose="020B0604020202020204" pitchFamily="34" charset="0"/>
              <a:buNone/>
            </a:pPr>
            <a:r>
              <a:rPr lang="en-US" sz="3600"/>
              <a:t>To train deep learning models efficiently, </a:t>
            </a:r>
            <a:r>
              <a:rPr lang="en-US" sz="3600" b="1"/>
              <a:t>GPU-based systems</a:t>
            </a:r>
            <a:r>
              <a:rPr lang="en-US" sz="3600"/>
              <a:t> were used for faster computation. The dataset was obtained from </a:t>
            </a:r>
            <a:r>
              <a:rPr lang="en-US" sz="3600" b="1"/>
              <a:t>Kaggle</a:t>
            </a:r>
            <a:r>
              <a:rPr lang="en-US" sz="3600"/>
              <a:t> and </a:t>
            </a:r>
            <a:r>
              <a:rPr lang="en-US" sz="3600" b="1"/>
              <a:t>The Cancer Imaging Archive</a:t>
            </a:r>
            <a:r>
              <a:rPr lang="en-US" sz="3600"/>
              <a:t>, which are open-source and reliable. The project was divided into stages: data collection, preprocessing, model development, and performance comparison.</a:t>
            </a:r>
            <a:br>
              <a:rPr lang="en-US" sz="3600"/>
            </a:br>
            <a:r>
              <a:rPr lang="en-US" sz="3600"/>
              <a:t>Resources such as computing time, data storage, and training parameters were managed effectively to ensure smooth progress. Team collaboration tools and proper documentation were used to maintain consistency and track results efficiently.</a:t>
            </a:r>
            <a:endParaRPr lang="en-US" altLang="en-US" sz="3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817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62BE-0447-48EC-A1D9-0A718ECC20D0}"/>
              </a:ext>
            </a:extLst>
          </p:cNvPr>
          <p:cNvSpPr>
            <a:spLocks noGrp="1"/>
          </p:cNvSpPr>
          <p:nvPr>
            <p:ph type="title"/>
          </p:nvPr>
        </p:nvSpPr>
        <p:spPr>
          <a:xfrm>
            <a:off x="1809655" y="472697"/>
            <a:ext cx="16588502" cy="1158311"/>
          </a:xfrm>
        </p:spPr>
        <p:txBody>
          <a:bodyPr>
            <a:normAutofit/>
          </a:bodyPr>
          <a:lstStyle/>
          <a:p>
            <a:pPr algn="ctr"/>
            <a:r>
              <a:rPr lang="en-IN" sz="8000" b="1" dirty="0">
                <a:solidFill>
                  <a:srgbClr val="C00000"/>
                </a:solidFill>
                <a:latin typeface="Times New Roman"/>
                <a:cs typeface="Times New Roman"/>
              </a:rPr>
              <a:t>Environment and Sustainability</a:t>
            </a:r>
            <a:endParaRPr lang="en-IN" dirty="0"/>
          </a:p>
        </p:txBody>
      </p:sp>
      <p:sp>
        <p:nvSpPr>
          <p:cNvPr id="4" name="TextBox 3">
            <a:extLst>
              <a:ext uri="{FF2B5EF4-FFF2-40B4-BE49-F238E27FC236}">
                <a16:creationId xmlns:a16="http://schemas.microsoft.com/office/drawing/2014/main" id="{40DFDEB6-B5B1-3A2D-E4BE-8CF52912F66F}"/>
              </a:ext>
            </a:extLst>
          </p:cNvPr>
          <p:cNvSpPr txBox="1"/>
          <p:nvPr/>
        </p:nvSpPr>
        <p:spPr>
          <a:xfrm>
            <a:off x="1998482" y="3214540"/>
            <a:ext cx="16399675" cy="3970318"/>
          </a:xfrm>
          <a:prstGeom prst="rect">
            <a:avLst/>
          </a:prstGeom>
          <a:noFill/>
        </p:spPr>
        <p:txBody>
          <a:bodyPr wrap="square" rtlCol="0">
            <a:spAutoFit/>
          </a:bodyPr>
          <a:lstStyle/>
          <a:p>
            <a:pPr algn="just">
              <a:buFont typeface="Arial" panose="020B0604020202020204" pitchFamily="34" charset="0"/>
              <a:buNone/>
            </a:pPr>
            <a:r>
              <a:rPr lang="en-US" sz="3600"/>
              <a:t>This project promotes sustainability by supporting </a:t>
            </a:r>
            <a:r>
              <a:rPr lang="en-US" sz="3600" b="1"/>
              <a:t>digital diagnosis</a:t>
            </a:r>
            <a:r>
              <a:rPr lang="en-US" sz="3600"/>
              <a:t> and reducing the dependency on manual, paper-based medical processes. Automated systems also help save time, energy, and medical resources, making healthcare more efficient.</a:t>
            </a:r>
            <a:br>
              <a:rPr lang="en-US" sz="3600"/>
            </a:br>
            <a:r>
              <a:rPr lang="en-US" sz="3600"/>
              <a:t>By improving diagnostic accuracy, the model can reduce the need for repeated medical tests, minimizing waste and energy use in laboratories. Hence, this project not only benefits healthcare professionals but also contributes to an </a:t>
            </a:r>
            <a:r>
              <a:rPr lang="en-US" sz="3600" b="1"/>
              <a:t>eco-friendly and sustainable medical ecosystem</a:t>
            </a:r>
            <a:r>
              <a:rPr lang="en-US" sz="3600"/>
              <a:t>.</a:t>
            </a:r>
            <a:endParaRPr lang="en-IN" sz="3600"/>
          </a:p>
        </p:txBody>
      </p:sp>
    </p:spTree>
    <p:extLst>
      <p:ext uri="{BB962C8B-B14F-4D97-AF65-F5344CB8AC3E}">
        <p14:creationId xmlns:p14="http://schemas.microsoft.com/office/powerpoint/2010/main" val="60773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62BE-0447-48EC-A1D9-0A718ECC20D0}"/>
              </a:ext>
            </a:extLst>
          </p:cNvPr>
          <p:cNvSpPr>
            <a:spLocks noGrp="1"/>
          </p:cNvSpPr>
          <p:nvPr>
            <p:ph type="title"/>
          </p:nvPr>
        </p:nvSpPr>
        <p:spPr/>
        <p:txBody>
          <a:bodyPr/>
          <a:lstStyle/>
          <a:p>
            <a:pPr algn="ctr"/>
            <a:r>
              <a:rPr lang="en-IN" sz="8000" b="1" dirty="0">
                <a:solidFill>
                  <a:srgbClr val="C00000"/>
                </a:solidFill>
                <a:latin typeface="Times New Roman"/>
                <a:ea typeface="Times New Roman"/>
                <a:cs typeface="Times New Roman"/>
                <a:sym typeface="Times New Roman"/>
              </a:rPr>
              <a:t>Dataset Description</a:t>
            </a:r>
            <a:endParaRPr lang="en-IN" dirty="0"/>
          </a:p>
        </p:txBody>
      </p:sp>
      <p:sp>
        <p:nvSpPr>
          <p:cNvPr id="4" name="TextBox 3">
            <a:extLst>
              <a:ext uri="{FF2B5EF4-FFF2-40B4-BE49-F238E27FC236}">
                <a16:creationId xmlns:a16="http://schemas.microsoft.com/office/drawing/2014/main" id="{E035C04B-10A2-4867-4AD6-B8EA7F5F55C3}"/>
              </a:ext>
            </a:extLst>
          </p:cNvPr>
          <p:cNvSpPr txBox="1"/>
          <p:nvPr/>
        </p:nvSpPr>
        <p:spPr>
          <a:xfrm>
            <a:off x="2139885" y="3176833"/>
            <a:ext cx="16091554" cy="5078313"/>
          </a:xfrm>
          <a:prstGeom prst="rect">
            <a:avLst/>
          </a:prstGeom>
          <a:noFill/>
        </p:spPr>
        <p:txBody>
          <a:bodyPr wrap="square" rtlCol="0">
            <a:spAutoFit/>
          </a:bodyPr>
          <a:lstStyle/>
          <a:p>
            <a:pPr algn="just">
              <a:buFont typeface="Arial" panose="020B0604020202020204" pitchFamily="34" charset="0"/>
              <a:buNone/>
            </a:pPr>
            <a:r>
              <a:rPr lang="en-US" sz="3600"/>
              <a:t>The data used in this project is sourced from </a:t>
            </a:r>
            <a:r>
              <a:rPr lang="en-US" sz="3600" b="1"/>
              <a:t>Kaggle</a:t>
            </a:r>
            <a:r>
              <a:rPr lang="en-US" sz="3600"/>
              <a:t> and </a:t>
            </a:r>
            <a:r>
              <a:rPr lang="en-US" sz="3600" b="1"/>
              <a:t>The Cancer Imaging Archive (TCIA)</a:t>
            </a:r>
            <a:r>
              <a:rPr lang="en-US" sz="3600"/>
              <a:t>. It contains a large collection of </a:t>
            </a:r>
            <a:r>
              <a:rPr lang="en-US" sz="3600" b="1"/>
              <a:t>expert-labeled microscopic images</a:t>
            </a:r>
            <a:r>
              <a:rPr lang="en-US" sz="3600"/>
              <a:t> of bone marrow cells. Each image represents one of </a:t>
            </a:r>
            <a:r>
              <a:rPr lang="en-US" sz="3600" b="1"/>
              <a:t>14 morphological cell classes</a:t>
            </a:r>
            <a:r>
              <a:rPr lang="en-US" sz="3600"/>
              <a:t>, which helps the model learn to recognize various types of cells.</a:t>
            </a:r>
          </a:p>
          <a:p>
            <a:pPr algn="just">
              <a:buFont typeface="Arial" panose="020B0604020202020204" pitchFamily="34" charset="0"/>
              <a:buNone/>
            </a:pPr>
            <a:r>
              <a:rPr lang="en-US" sz="3600"/>
              <a:t>Some cell types are more common than others, causing an </a:t>
            </a:r>
            <a:r>
              <a:rPr lang="en-US" sz="3600" b="1"/>
              <a:t>imbalance</a:t>
            </a:r>
            <a:r>
              <a:rPr lang="en-US" sz="3600"/>
              <a:t> in the dataset. This makes it difficult for models to learn equally from all classes, which was addressed through preprocessing and augmentation. The dataset serves as the foundation for training and evaluating the performance of the models.</a:t>
            </a:r>
            <a:endParaRPr lang="en-US" altLang="en-US" sz="3600">
              <a:latin typeface="Times New Roman" panose="02020603050405020304" pitchFamily="18" charset="0"/>
              <a:cs typeface="Times New Roman" panose="02020603050405020304" pitchFamily="18" charset="0"/>
            </a:endParaRPr>
          </a:p>
          <a:p>
            <a:pPr algn="just"/>
            <a:endParaRPr lang="en-IN" sz="3600" dirty="0"/>
          </a:p>
        </p:txBody>
      </p:sp>
    </p:spTree>
    <p:extLst>
      <p:ext uri="{BB962C8B-B14F-4D97-AF65-F5344CB8AC3E}">
        <p14:creationId xmlns:p14="http://schemas.microsoft.com/office/powerpoint/2010/main" val="360144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2" name="Google Shape;122;p16"/>
          <p:cNvSpPr txBox="1"/>
          <p:nvPr/>
        </p:nvSpPr>
        <p:spPr>
          <a:xfrm>
            <a:off x="12906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Data </a:t>
            </a:r>
            <a:r>
              <a:rPr lang="en-IN" sz="7000" b="1" dirty="0" err="1">
                <a:solidFill>
                  <a:srgbClr val="C00000"/>
                </a:solidFill>
                <a:latin typeface="Times New Roman"/>
                <a:ea typeface="Times New Roman"/>
                <a:cs typeface="Times New Roman"/>
                <a:sym typeface="Times New Roman"/>
              </a:rPr>
              <a:t>Preprocessing</a:t>
            </a:r>
            <a:endParaRPr sz="7000" b="1" dirty="0">
              <a:solidFill>
                <a:srgbClr val="C00000"/>
              </a:solidFill>
              <a:latin typeface="Times New Roman"/>
              <a:ea typeface="Times New Roman"/>
              <a:cs typeface="Times New Roman"/>
              <a:sym typeface="Times New Roman"/>
            </a:endParaRPr>
          </a:p>
        </p:txBody>
      </p:sp>
      <p:sp>
        <p:nvSpPr>
          <p:cNvPr id="4" name="Content Placeholder 2">
            <a:extLst>
              <a:ext uri="{FF2B5EF4-FFF2-40B4-BE49-F238E27FC236}">
                <a16:creationId xmlns:a16="http://schemas.microsoft.com/office/drawing/2014/main" id="{6F47E9B2-CAA7-4EB9-A9DA-02B9E105B4C4}"/>
              </a:ext>
            </a:extLst>
          </p:cNvPr>
          <p:cNvSpPr>
            <a:spLocks noGrp="1"/>
          </p:cNvSpPr>
          <p:nvPr>
            <p:ph idx="1"/>
          </p:nvPr>
        </p:nvSpPr>
        <p:spPr>
          <a:xfrm>
            <a:off x="1809655" y="3044180"/>
            <a:ext cx="16588502" cy="6635750"/>
          </a:xfrm>
        </p:spPr>
        <p:txBody>
          <a:bodyPr/>
          <a:lstStyle/>
          <a:p>
            <a:pPr algn="just"/>
            <a:r>
              <a:rPr lang="en-US"/>
              <a:t>Before training the model, the images went through several preprocessing steps to ensure better accuracy. Each image was </a:t>
            </a:r>
            <a:r>
              <a:rPr lang="en-US" b="1"/>
              <a:t>resized, normalized</a:t>
            </a:r>
            <a:r>
              <a:rPr lang="en-US"/>
              <a:t>, and enhanced for clarity. To handle class imbalance, </a:t>
            </a:r>
            <a:r>
              <a:rPr lang="en-US" b="1"/>
              <a:t>data augmentation</a:t>
            </a:r>
            <a:r>
              <a:rPr lang="en-US"/>
              <a:t> techniques such as rotation, flipping, zooming, and brightness adjustment were applied.</a:t>
            </a:r>
          </a:p>
          <a:p>
            <a:pPr algn="just"/>
            <a:r>
              <a:rPr lang="en-US"/>
              <a:t>The dataset was divided into </a:t>
            </a:r>
            <a:r>
              <a:rPr lang="en-US" b="1"/>
              <a:t>training, validation, and testing sets</a:t>
            </a:r>
            <a:r>
              <a:rPr lang="en-US"/>
              <a:t> to measure performance fairly. Preprocessing helps remove noise, standardize data, and make the model more robust. These steps ensured that the model could generalize well and perform accurately on new, unseen images.</a:t>
            </a:r>
          </a:p>
          <a:p>
            <a:pPr algn="just"/>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4"/>
          <p:cNvSpPr txBox="1"/>
          <p:nvPr/>
        </p:nvSpPr>
        <p:spPr>
          <a:xfrm>
            <a:off x="15192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a:solidFill>
                  <a:srgbClr val="C00000"/>
                </a:solidFill>
                <a:latin typeface="Times New Roman"/>
                <a:ea typeface="Times New Roman"/>
                <a:cs typeface="Times New Roman"/>
                <a:sym typeface="Times New Roman"/>
              </a:rPr>
              <a:t>References</a:t>
            </a:r>
            <a:endParaRPr/>
          </a:p>
        </p:txBody>
      </p:sp>
      <p:sp>
        <p:nvSpPr>
          <p:cNvPr id="2" name="TextBox 1">
            <a:extLst>
              <a:ext uri="{FF2B5EF4-FFF2-40B4-BE49-F238E27FC236}">
                <a16:creationId xmlns:a16="http://schemas.microsoft.com/office/drawing/2014/main" id="{C178B431-FDEA-8B88-F93E-E1BD04E04319}"/>
              </a:ext>
            </a:extLst>
          </p:cNvPr>
          <p:cNvSpPr txBox="1"/>
          <p:nvPr/>
        </p:nvSpPr>
        <p:spPr>
          <a:xfrm>
            <a:off x="1432874" y="3044858"/>
            <a:ext cx="17005955" cy="6986528"/>
          </a:xfrm>
          <a:prstGeom prst="rect">
            <a:avLst/>
          </a:prstGeom>
          <a:noFill/>
        </p:spPr>
        <p:txBody>
          <a:bodyPr wrap="square" rtlCol="0">
            <a:spAutoFit/>
          </a:bodyPr>
          <a:lstStyle/>
          <a:p>
            <a:pPr marL="457200" indent="-457200" algn="just">
              <a:buFont typeface="+mj-lt"/>
              <a:buAutoNum type="arabicParenR"/>
            </a:pPr>
            <a:r>
              <a:rPr lang="en-IN" altLang="en-US" sz="2800">
                <a:latin typeface="Times New Roman" panose="02020603050405020304" pitchFamily="18" charset="0"/>
                <a:cs typeface="Times New Roman" panose="02020603050405020304" pitchFamily="18" charset="0"/>
              </a:rPr>
              <a:t>Honig, M.L., Steiglitz, K., and Gopinath, B.</a:t>
            </a:r>
            <a:r>
              <a:rPr lang="en-IN" altLang="en-US" sz="2800" i="1">
                <a:latin typeface="Times New Roman" panose="02020603050405020304" pitchFamily="18" charset="0"/>
                <a:cs typeface="Times New Roman" panose="02020603050405020304" pitchFamily="18" charset="0"/>
              </a:rPr>
              <a:t> ‘Multichannel signal processing for data communication in the presence of crosstalk’</a:t>
            </a:r>
            <a:r>
              <a:rPr lang="en-IN" altLang="en-US" sz="2800">
                <a:latin typeface="Times New Roman" panose="02020603050405020304" pitchFamily="18" charset="0"/>
                <a:cs typeface="Times New Roman" panose="02020603050405020304" pitchFamily="18" charset="0"/>
              </a:rPr>
              <a:t>, IEEE Trans. Communications., 38, </a:t>
            </a:r>
          </a:p>
          <a:p>
            <a:pPr marL="457200" indent="-457200" algn="just">
              <a:buFont typeface="+mj-lt"/>
              <a:buAutoNum type="arabicParenR"/>
            </a:pPr>
            <a:r>
              <a:rPr lang="en-IN" altLang="en-US" sz="2800">
                <a:latin typeface="Times New Roman" panose="02020603050405020304" pitchFamily="18" charset="0"/>
                <a:cs typeface="Times New Roman" panose="02020603050405020304" pitchFamily="18" charset="0"/>
              </a:rPr>
              <a:t>(4), pp. 551–558, April 1990,</a:t>
            </a:r>
          </a:p>
          <a:p>
            <a:pPr marL="457200" indent="-457200" algn="just">
              <a:buFont typeface="+mj-lt"/>
              <a:buAutoNum type="arabicParenR"/>
            </a:pPr>
            <a:endParaRPr lang="en-IN" altLang="en-US" sz="2800">
              <a:latin typeface="Times New Roman" panose="02020603050405020304" pitchFamily="18" charset="0"/>
              <a:cs typeface="Times New Roman" panose="02020603050405020304" pitchFamily="18" charset="0"/>
            </a:endParaRPr>
          </a:p>
          <a:p>
            <a:pPr marL="457200" indent="-457200" algn="just">
              <a:buFont typeface="+mj-lt"/>
              <a:buAutoNum type="arabicParenR"/>
            </a:pPr>
            <a:r>
              <a:rPr lang="en-IN" altLang="en-US" sz="2800">
                <a:latin typeface="Times New Roman" panose="02020603050405020304" pitchFamily="18" charset="0"/>
                <a:cs typeface="Times New Roman" panose="02020603050405020304" pitchFamily="18" charset="0"/>
              </a:rPr>
              <a:t>A. H. Cookson and B. O. Pedersen, ‘</a:t>
            </a:r>
            <a:r>
              <a:rPr lang="en-IN" altLang="en-US" sz="2800" i="1">
                <a:latin typeface="Times New Roman" panose="02020603050405020304" pitchFamily="18" charset="0"/>
                <a:cs typeface="Times New Roman" panose="02020603050405020304" pitchFamily="18" charset="0"/>
              </a:rPr>
              <a:t>Thermal measurements in a 1200kV compressed gas insulated transmission line’,</a:t>
            </a:r>
            <a:r>
              <a:rPr lang="en-IN" altLang="en-US" sz="2800">
                <a:latin typeface="Times New Roman" panose="02020603050405020304" pitchFamily="18" charset="0"/>
                <a:cs typeface="Times New Roman" panose="02020603050405020304" pitchFamily="18" charset="0"/>
              </a:rPr>
              <a:t>in Seventh IEEE Power Engineering Society Transmission and Distribution Conference and Exposition, 1979, pp. 163-167.</a:t>
            </a:r>
          </a:p>
          <a:p>
            <a:pPr marL="457200" indent="-457200" algn="just">
              <a:buFont typeface="+mj-lt"/>
              <a:buAutoNum type="arabicParenR"/>
            </a:pPr>
            <a:endParaRPr lang="en-IN" altLang="en-US" sz="2800">
              <a:latin typeface="Times New Roman" panose="02020603050405020304" pitchFamily="18" charset="0"/>
              <a:cs typeface="Times New Roman" panose="02020603050405020304" pitchFamily="18" charset="0"/>
            </a:endParaRPr>
          </a:p>
          <a:p>
            <a:pPr marL="457200" indent="-457200" algn="just">
              <a:buFont typeface="+mj-lt"/>
              <a:buAutoNum type="arabicParenR"/>
            </a:pPr>
            <a:r>
              <a:rPr lang="en-IN" altLang="en-US" sz="2800">
                <a:latin typeface="Times New Roman" panose="02020603050405020304" pitchFamily="18" charset="0"/>
                <a:cs typeface="Times New Roman" panose="02020603050405020304" pitchFamily="18" charset="0"/>
              </a:rPr>
              <a:t>T. Kasami</a:t>
            </a:r>
            <a:r>
              <a:rPr lang="en-IN" altLang="en-US" sz="2800" i="1">
                <a:latin typeface="Times New Roman" panose="02020603050405020304" pitchFamily="18" charset="0"/>
                <a:cs typeface="Times New Roman" panose="02020603050405020304" pitchFamily="18" charset="0"/>
              </a:rPr>
              <a:t>, ‘An efficient recognition and syntax analysis algorithm for context-free languages,’ </a:t>
            </a:r>
            <a:r>
              <a:rPr lang="en-IN" altLang="en-US" sz="2800">
                <a:latin typeface="Times New Roman" panose="02020603050405020304" pitchFamily="18" charset="0"/>
                <a:cs typeface="Times New Roman" panose="02020603050405020304" pitchFamily="18" charset="0"/>
              </a:rPr>
              <a:t>Air Force Cambridge Res. Lab., Bedford, MA, Sci. Rep. AFCRL-65-558, 1965.</a:t>
            </a:r>
          </a:p>
          <a:p>
            <a:pPr marL="457200" indent="-457200" algn="just">
              <a:buFont typeface="+mj-lt"/>
              <a:buAutoNum type="arabicParenR"/>
            </a:pPr>
            <a:endParaRPr lang="en-IN" altLang="en-US" sz="2800">
              <a:latin typeface="Times New Roman" panose="02020603050405020304" pitchFamily="18" charset="0"/>
              <a:cs typeface="Times New Roman" panose="02020603050405020304" pitchFamily="18" charset="0"/>
            </a:endParaRPr>
          </a:p>
          <a:p>
            <a:pPr marL="457200" indent="-457200" algn="just">
              <a:buFont typeface="+mj-lt"/>
              <a:buAutoNum type="arabicParenR"/>
            </a:pPr>
            <a:r>
              <a:rPr lang="en-IN" altLang="en-US" sz="2800">
                <a:latin typeface="Times New Roman" panose="02020603050405020304" pitchFamily="18" charset="0"/>
                <a:cs typeface="Times New Roman" panose="02020603050405020304" pitchFamily="18" charset="0"/>
              </a:rPr>
              <a:t>T. Mei and T. Yang, </a:t>
            </a:r>
            <a:r>
              <a:rPr lang="en-IN" altLang="en-US" sz="2800" i="1">
                <a:latin typeface="Times New Roman" panose="02020603050405020304" pitchFamily="18" charset="0"/>
                <a:cs typeface="Times New Roman" panose="02020603050405020304" pitchFamily="18" charset="0"/>
              </a:rPr>
              <a:t>‘Circuit and method for average –current regulation of light-emitting diodes,’</a:t>
            </a:r>
            <a:r>
              <a:rPr lang="en-IN" altLang="en-US" sz="2800">
                <a:latin typeface="Times New Roman" panose="02020603050405020304" pitchFamily="18" charset="0"/>
                <a:cs typeface="Times New Roman" panose="02020603050405020304" pitchFamily="18" charset="0"/>
              </a:rPr>
              <a:t>U.S. Patent 7 898 187 B1, 2011, Mar. 1, 2012.</a:t>
            </a:r>
          </a:p>
          <a:p>
            <a:pPr marL="457200" indent="-457200" algn="just">
              <a:buFont typeface="+mj-lt"/>
              <a:buAutoNum type="arabicParenR"/>
            </a:pPr>
            <a:endParaRPr lang="en-IN" altLang="en-US" sz="2800">
              <a:latin typeface="Times New Roman" panose="02020603050405020304" pitchFamily="18" charset="0"/>
              <a:cs typeface="Times New Roman" panose="02020603050405020304" pitchFamily="18" charset="0"/>
            </a:endParaRPr>
          </a:p>
          <a:p>
            <a:pPr marL="457200" indent="-457200" algn="just">
              <a:buFont typeface="+mj-lt"/>
              <a:buAutoNum type="arabicParenR"/>
            </a:pPr>
            <a:r>
              <a:rPr lang="en-IN" altLang="en-US" sz="2800">
                <a:latin typeface="Times New Roman" panose="02020603050405020304" pitchFamily="18" charset="0"/>
                <a:cs typeface="Times New Roman" panose="02020603050405020304" pitchFamily="18" charset="0"/>
              </a:rPr>
              <a:t>C. W. Lander, ‘</a:t>
            </a:r>
            <a:r>
              <a:rPr lang="en-IN" altLang="en-US" sz="2800" i="1">
                <a:latin typeface="Times New Roman" panose="02020603050405020304" pitchFamily="18" charset="0"/>
                <a:cs typeface="Times New Roman" panose="02020603050405020304" pitchFamily="18" charset="0"/>
              </a:rPr>
              <a:t>Power Electronics’</a:t>
            </a:r>
            <a:r>
              <a:rPr lang="en-IN" altLang="en-US" sz="2800">
                <a:latin typeface="Times New Roman" panose="02020603050405020304" pitchFamily="18" charset="0"/>
                <a:cs typeface="Times New Roman" panose="02020603050405020304" pitchFamily="18" charset="0"/>
              </a:rPr>
              <a:t>, 3rd. ed., London: McGraw-Hill, 1993.</a:t>
            </a:r>
          </a:p>
          <a:p>
            <a:pPr marL="457200" indent="-457200">
              <a:buFont typeface="+mj-lt"/>
              <a:buAutoNum type="arabicParenR"/>
            </a:pPr>
            <a:endParaRPr lang="en-IN"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5"/>
          <p:cNvSpPr/>
          <p:nvPr/>
        </p:nvSpPr>
        <p:spPr>
          <a:xfrm>
            <a:off x="669924" y="352743"/>
            <a:ext cx="18767425" cy="2895600"/>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17500" b="1" dirty="0">
                <a:solidFill>
                  <a:srgbClr val="C00000"/>
                </a:solidFill>
                <a:latin typeface="Arial Black"/>
                <a:ea typeface="Arial Black"/>
                <a:cs typeface="Arial Black"/>
                <a:sym typeface="Arial Black"/>
              </a:rPr>
              <a:t>Thank You</a:t>
            </a:r>
            <a:endParaRPr dirty="0"/>
          </a:p>
        </p:txBody>
      </p:sp>
      <p:pic>
        <p:nvPicPr>
          <p:cNvPr id="187" name="Google Shape;187;p25" descr="Related image"/>
          <p:cNvPicPr preferRelativeResize="0"/>
          <p:nvPr/>
        </p:nvPicPr>
        <p:blipFill rotWithShape="1">
          <a:blip r:embed="rId3">
            <a:alphaModFix/>
          </a:blip>
          <a:srcRect t="3442"/>
          <a:stretch/>
        </p:blipFill>
        <p:spPr>
          <a:xfrm>
            <a:off x="7691438" y="4284663"/>
            <a:ext cx="5149850" cy="6188075"/>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1786</TotalTime>
  <Words>1216</Words>
  <Application>Microsoft Office PowerPoint</Application>
  <PresentationFormat>Custom</PresentationFormat>
  <Paragraphs>53</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Arial Black</vt:lpstr>
      <vt:lpstr>Algerian</vt:lpstr>
      <vt:lpstr>Calibri Light</vt:lpstr>
      <vt:lpstr>Times New Roman</vt:lpstr>
      <vt:lpstr>Arial</vt:lpstr>
      <vt:lpstr>Retrospect</vt:lpstr>
      <vt:lpstr>PowerPoint Presentation</vt:lpstr>
      <vt:lpstr>PowerPoint Presentation</vt:lpstr>
      <vt:lpstr>PowerPoint Presentation</vt:lpstr>
      <vt:lpstr>PowerPoint Presentation</vt:lpstr>
      <vt:lpstr>PowerPoint Presentation</vt:lpstr>
      <vt:lpstr>Engineering Knowledge</vt:lpstr>
      <vt:lpstr>Resource Management</vt:lpstr>
      <vt:lpstr>Environment and Sustainability</vt:lpstr>
      <vt:lpstr>Dataset Description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analamr</dc:creator>
  <cp:lastModifiedBy>Veerasagar SS</cp:lastModifiedBy>
  <cp:revision>16</cp:revision>
  <dcterms:modified xsi:type="dcterms:W3CDTF">2025-10-17T08:24:12Z</dcterms:modified>
</cp:coreProperties>
</file>