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17"/>
  </p:notesMasterIdLst>
  <p:sldIdLst>
    <p:sldId id="256" r:id="rId2"/>
    <p:sldId id="257" r:id="rId3"/>
    <p:sldId id="258" r:id="rId4"/>
    <p:sldId id="274" r:id="rId5"/>
    <p:sldId id="259" r:id="rId6"/>
    <p:sldId id="267" r:id="rId7"/>
    <p:sldId id="275" r:id="rId8"/>
    <p:sldId id="276" r:id="rId9"/>
    <p:sldId id="269" r:id="rId10"/>
    <p:sldId id="262" r:id="rId11"/>
    <p:sldId id="279" r:id="rId12"/>
    <p:sldId id="277" r:id="rId13"/>
    <p:sldId id="278" r:id="rId14"/>
    <p:sldId id="265" r:id="rId15"/>
    <p:sldId id="264"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969" autoAdjust="0"/>
  </p:normalViewPr>
  <p:slideViewPr>
    <p:cSldViewPr snapToGrid="0">
      <p:cViewPr varScale="1">
        <p:scale>
          <a:sx n="85" d="100"/>
          <a:sy n="85" d="100"/>
        </p:scale>
        <p:origin x="740"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3d66680d4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3d66680d4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FF2E4087-34D0-E5A1-9ECE-EE4DC067391E}"/>
            </a:ext>
          </a:extLst>
        </p:cNvPr>
        <p:cNvGrpSpPr/>
        <p:nvPr/>
      </p:nvGrpSpPr>
      <p:grpSpPr>
        <a:xfrm>
          <a:off x="0" y="0"/>
          <a:ext cx="0" cy="0"/>
          <a:chOff x="0" y="0"/>
          <a:chExt cx="0" cy="0"/>
        </a:xfrm>
      </p:grpSpPr>
      <p:sp>
        <p:nvSpPr>
          <p:cNvPr id="59" name="Google Shape;59;g23d66680d41_0_5:notes">
            <a:extLst>
              <a:ext uri="{FF2B5EF4-FFF2-40B4-BE49-F238E27FC236}">
                <a16:creationId xmlns:a16="http://schemas.microsoft.com/office/drawing/2014/main" id="{E63B6891-623D-2DFA-730D-AC1D3CDAFA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3d66680d41_0_5:notes">
            <a:extLst>
              <a:ext uri="{FF2B5EF4-FFF2-40B4-BE49-F238E27FC236}">
                <a16:creationId xmlns:a16="http://schemas.microsoft.com/office/drawing/2014/main" id="{9C9ECA73-8CD3-98F8-D64F-BF94CB25EA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3168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3d66680d4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3d66680d4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5BB61AB7-0F58-96EF-9BCF-648C2623863C}"/>
            </a:ext>
          </a:extLst>
        </p:cNvPr>
        <p:cNvGrpSpPr/>
        <p:nvPr/>
      </p:nvGrpSpPr>
      <p:grpSpPr>
        <a:xfrm>
          <a:off x="0" y="0"/>
          <a:ext cx="0" cy="0"/>
          <a:chOff x="0" y="0"/>
          <a:chExt cx="0" cy="0"/>
        </a:xfrm>
      </p:grpSpPr>
      <p:sp>
        <p:nvSpPr>
          <p:cNvPr id="71" name="Google Shape;71;g23d66680d41_0_20:notes">
            <a:extLst>
              <a:ext uri="{FF2B5EF4-FFF2-40B4-BE49-F238E27FC236}">
                <a16:creationId xmlns:a16="http://schemas.microsoft.com/office/drawing/2014/main" id="{09B133AD-CF9A-AF03-1F59-5ADABC9410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3d66680d41_0_20:notes">
            <a:extLst>
              <a:ext uri="{FF2B5EF4-FFF2-40B4-BE49-F238E27FC236}">
                <a16:creationId xmlns:a16="http://schemas.microsoft.com/office/drawing/2014/main" id="{4B1EB55B-BBA9-3B69-BF3D-404849F032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9618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1B69B1F3-0C76-EDBE-E90C-642EB0AAA8EC}"/>
            </a:ext>
          </a:extLst>
        </p:cNvPr>
        <p:cNvGrpSpPr/>
        <p:nvPr/>
      </p:nvGrpSpPr>
      <p:grpSpPr>
        <a:xfrm>
          <a:off x="0" y="0"/>
          <a:ext cx="0" cy="0"/>
          <a:chOff x="0" y="0"/>
          <a:chExt cx="0" cy="0"/>
        </a:xfrm>
      </p:grpSpPr>
      <p:sp>
        <p:nvSpPr>
          <p:cNvPr id="71" name="Google Shape;71;g23d66680d41_0_20:notes">
            <a:extLst>
              <a:ext uri="{FF2B5EF4-FFF2-40B4-BE49-F238E27FC236}">
                <a16:creationId xmlns:a16="http://schemas.microsoft.com/office/drawing/2014/main" id="{18972012-DAA6-83F0-8D6D-E9D6807AB7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3d66680d41_0_20:notes">
            <a:extLst>
              <a:ext uri="{FF2B5EF4-FFF2-40B4-BE49-F238E27FC236}">
                <a16:creationId xmlns:a16="http://schemas.microsoft.com/office/drawing/2014/main" id="{71705AF1-49A8-29D9-A441-5B9D08553E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0267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5F264972-0EC0-7C25-EF27-A4C3B7DEEC11}"/>
            </a:ext>
          </a:extLst>
        </p:cNvPr>
        <p:cNvGrpSpPr/>
        <p:nvPr/>
      </p:nvGrpSpPr>
      <p:grpSpPr>
        <a:xfrm>
          <a:off x="0" y="0"/>
          <a:ext cx="0" cy="0"/>
          <a:chOff x="0" y="0"/>
          <a:chExt cx="0" cy="0"/>
        </a:xfrm>
      </p:grpSpPr>
      <p:sp>
        <p:nvSpPr>
          <p:cNvPr id="71" name="Google Shape;71;g23d66680d41_0_20:notes">
            <a:extLst>
              <a:ext uri="{FF2B5EF4-FFF2-40B4-BE49-F238E27FC236}">
                <a16:creationId xmlns:a16="http://schemas.microsoft.com/office/drawing/2014/main" id="{9265EE31-F4C0-9D15-8A6A-11A7D8D5C4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3d66680d41_0_20:notes">
            <a:extLst>
              <a:ext uri="{FF2B5EF4-FFF2-40B4-BE49-F238E27FC236}">
                <a16:creationId xmlns:a16="http://schemas.microsoft.com/office/drawing/2014/main" id="{50928FD8-89BD-A92A-69AD-A26FAE201E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27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B57052A1-2B1D-8CF3-76BA-14BD9EE4907E}"/>
            </a:ext>
          </a:extLst>
        </p:cNvPr>
        <p:cNvGrpSpPr/>
        <p:nvPr/>
      </p:nvGrpSpPr>
      <p:grpSpPr>
        <a:xfrm>
          <a:off x="0" y="0"/>
          <a:ext cx="0" cy="0"/>
          <a:chOff x="0" y="0"/>
          <a:chExt cx="0" cy="0"/>
        </a:xfrm>
      </p:grpSpPr>
      <p:sp>
        <p:nvSpPr>
          <p:cNvPr id="71" name="Google Shape;71;g23d66680d41_0_20:notes">
            <a:extLst>
              <a:ext uri="{FF2B5EF4-FFF2-40B4-BE49-F238E27FC236}">
                <a16:creationId xmlns:a16="http://schemas.microsoft.com/office/drawing/2014/main" id="{24642E97-97F6-8C87-EE0A-E41080B752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3d66680d41_0_20:notes">
            <a:extLst>
              <a:ext uri="{FF2B5EF4-FFF2-40B4-BE49-F238E27FC236}">
                <a16:creationId xmlns:a16="http://schemas.microsoft.com/office/drawing/2014/main" id="{75881A18-85AF-7A18-FB30-FD6E029118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610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C39FFCDE-8230-07DA-F4D0-C30E4F78352D}"/>
            </a:ext>
          </a:extLst>
        </p:cNvPr>
        <p:cNvGrpSpPr/>
        <p:nvPr/>
      </p:nvGrpSpPr>
      <p:grpSpPr>
        <a:xfrm>
          <a:off x="0" y="0"/>
          <a:ext cx="0" cy="0"/>
          <a:chOff x="0" y="0"/>
          <a:chExt cx="0" cy="0"/>
        </a:xfrm>
      </p:grpSpPr>
      <p:sp>
        <p:nvSpPr>
          <p:cNvPr id="71" name="Google Shape;71;g23d66680d41_0_20:notes">
            <a:extLst>
              <a:ext uri="{FF2B5EF4-FFF2-40B4-BE49-F238E27FC236}">
                <a16:creationId xmlns:a16="http://schemas.microsoft.com/office/drawing/2014/main" id="{C99224A8-15D8-2232-1C64-19C2CECDAF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3d66680d41_0_20:notes">
            <a:extLst>
              <a:ext uri="{FF2B5EF4-FFF2-40B4-BE49-F238E27FC236}">
                <a16:creationId xmlns:a16="http://schemas.microsoft.com/office/drawing/2014/main" id="{D72C5FA7-2525-C856-0398-785CE1AFE7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6922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AEEC025A-114D-049E-4A9F-121746FE71A0}"/>
            </a:ext>
          </a:extLst>
        </p:cNvPr>
        <p:cNvGrpSpPr/>
        <p:nvPr/>
      </p:nvGrpSpPr>
      <p:grpSpPr>
        <a:xfrm>
          <a:off x="0" y="0"/>
          <a:ext cx="0" cy="0"/>
          <a:chOff x="0" y="0"/>
          <a:chExt cx="0" cy="0"/>
        </a:xfrm>
      </p:grpSpPr>
      <p:sp>
        <p:nvSpPr>
          <p:cNvPr id="71" name="Google Shape;71;g23d66680d41_0_20:notes">
            <a:extLst>
              <a:ext uri="{FF2B5EF4-FFF2-40B4-BE49-F238E27FC236}">
                <a16:creationId xmlns:a16="http://schemas.microsoft.com/office/drawing/2014/main" id="{7AACF52D-5BCB-3866-1A62-A1E5BE849E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3d66680d41_0_20:notes">
            <a:extLst>
              <a:ext uri="{FF2B5EF4-FFF2-40B4-BE49-F238E27FC236}">
                <a16:creationId xmlns:a16="http://schemas.microsoft.com/office/drawing/2014/main" id="{A0593A52-4EA8-7036-6166-AFBA50EF16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28935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91725" y="9341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3"/>
          <p:cNvSpPr txBox="1">
            <a:spLocks noGrp="1"/>
          </p:cNvSpPr>
          <p:nvPr>
            <p:ph type="body" idx="1"/>
          </p:nvPr>
        </p:nvSpPr>
        <p:spPr>
          <a:xfrm>
            <a:off x="253250" y="1857500"/>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19" name="Google Shape;19;p3"/>
          <p:cNvPicPr preferRelativeResize="0"/>
          <p:nvPr/>
        </p:nvPicPr>
        <p:blipFill>
          <a:blip r:embed="rId2">
            <a:alphaModFix/>
          </a:blip>
          <a:stretch>
            <a:fillRect/>
          </a:stretch>
        </p:blipFill>
        <p:spPr>
          <a:xfrm>
            <a:off x="6983600" y="415175"/>
            <a:ext cx="1974051" cy="3001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13">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91725" y="7765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4"/>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91725" y="7765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6"/>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9"/>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0"/>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0"/>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14" name="Google Shape;14;p2"/>
          <p:cNvPicPr preferRelativeResize="0"/>
          <p:nvPr/>
        </p:nvPicPr>
        <p:blipFill>
          <a:blip r:embed="rId2">
            <a:alphaModFix/>
          </a:blip>
          <a:stretch>
            <a:fillRect/>
          </a:stretch>
        </p:blipFill>
        <p:spPr>
          <a:xfrm>
            <a:off x="3463213" y="4730051"/>
            <a:ext cx="2217574" cy="337250"/>
          </a:xfrm>
          <a:prstGeom prst="rect">
            <a:avLst/>
          </a:prstGeom>
          <a:noFill/>
          <a:ln>
            <a:noFill/>
          </a:ln>
        </p:spPr>
      </p:pic>
    </p:spTree>
    <p:extLst>
      <p:ext uri="{BB962C8B-B14F-4D97-AF65-F5344CB8AC3E}">
        <p14:creationId xmlns:p14="http://schemas.microsoft.com/office/powerpoint/2010/main" val="2855101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2">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91725" y="776500"/>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506800"/>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a:blip r:embed="rId13">
            <a:alphaModFix/>
          </a:blip>
          <a:stretch>
            <a:fillRect/>
          </a:stretch>
        </p:blipFill>
        <p:spPr>
          <a:xfrm>
            <a:off x="216000" y="216000"/>
            <a:ext cx="1507681" cy="6479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2" name="Text Box 4">
            <a:extLst>
              <a:ext uri="{FF2B5EF4-FFF2-40B4-BE49-F238E27FC236}">
                <a16:creationId xmlns:a16="http://schemas.microsoft.com/office/drawing/2014/main" id="{52F5642A-CBAD-6EE0-2796-D807106F41AE}"/>
              </a:ext>
            </a:extLst>
          </p:cNvPr>
          <p:cNvSpPr txBox="1">
            <a:spLocks noChangeArrowheads="1"/>
          </p:cNvSpPr>
          <p:nvPr/>
        </p:nvSpPr>
        <p:spPr bwMode="auto">
          <a:xfrm>
            <a:off x="1643205" y="720168"/>
            <a:ext cx="6162674"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defRPr/>
            </a:pPr>
            <a:r>
              <a:rPr lang="en-US" altLang="en-US" sz="2000" dirty="0">
                <a:cs typeface="Times New Roman" panose="02020603050405020304" pitchFamily="18" charset="0"/>
              </a:rPr>
              <a:t>Internship Review -I : MCE434N</a:t>
            </a:r>
          </a:p>
          <a:p>
            <a:pPr algn="ctr">
              <a:spcBef>
                <a:spcPct val="0"/>
              </a:spcBef>
              <a:buFontTx/>
              <a:buNone/>
              <a:defRPr/>
            </a:pPr>
            <a:endParaRPr lang="en-US" altLang="en-US" sz="2000" dirty="0">
              <a:cs typeface="Times New Roman" panose="02020603050405020304" pitchFamily="18" charset="0"/>
            </a:endParaRPr>
          </a:p>
          <a:p>
            <a:pPr algn="ctr">
              <a:spcBef>
                <a:spcPct val="0"/>
              </a:spcBef>
              <a:buFontTx/>
              <a:buNone/>
              <a:defRPr/>
            </a:pPr>
            <a:r>
              <a:rPr lang="en-US" sz="2000" b="1" dirty="0">
                <a:ea typeface="Calibri" panose="020F0502020204030204" pitchFamily="34" charset="0"/>
              </a:rPr>
              <a:t>Bone Marrow Cells Classification using Deep Learning</a:t>
            </a:r>
            <a:r>
              <a:rPr lang="en-US" altLang="en-US" sz="4000" dirty="0">
                <a:latin typeface="Cambria" panose="02040503050406030204" pitchFamily="18" charset="0"/>
                <a:cs typeface="Arial" panose="020B0604020202020204" pitchFamily="34" charset="0"/>
              </a:rPr>
              <a:t>                            </a:t>
            </a:r>
          </a:p>
        </p:txBody>
      </p:sp>
      <p:sp>
        <p:nvSpPr>
          <p:cNvPr id="4" name="object 2">
            <a:extLst>
              <a:ext uri="{FF2B5EF4-FFF2-40B4-BE49-F238E27FC236}">
                <a16:creationId xmlns:a16="http://schemas.microsoft.com/office/drawing/2014/main" id="{60C1A9E8-6E16-E2D0-7D46-FE5CC88DA4CD}"/>
              </a:ext>
            </a:extLst>
          </p:cNvPr>
          <p:cNvSpPr txBox="1">
            <a:spLocks noChangeArrowheads="1"/>
          </p:cNvSpPr>
          <p:nvPr/>
        </p:nvSpPr>
        <p:spPr bwMode="auto">
          <a:xfrm>
            <a:off x="860419" y="2206467"/>
            <a:ext cx="7728246" cy="18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5198" rIns="0" bIns="0">
            <a:spAutoFit/>
          </a:bodyPr>
          <a:lstStyle>
            <a:lvl1pPr marL="1270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tabLst>
                <a:tab pos="3514725" algn="l"/>
              </a:tabLs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tabLst>
                <a:tab pos="3514725" algn="l"/>
              </a:tabLs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tabLst>
                <a:tab pos="3514725" algn="l"/>
              </a:tabLs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tabLst>
                <a:tab pos="3514725" algn="l"/>
              </a:tabLst>
              <a:defRPr>
                <a:solidFill>
                  <a:schemeClr val="tx1"/>
                </a:solidFill>
                <a:latin typeface="Calibri" panose="020F0502020204030204" pitchFamily="34" charset="0"/>
                <a:ea typeface="ＭＳ Ｐゴシック" panose="020B0600070205080204" pitchFamily="34" charset="-128"/>
              </a:defRPr>
            </a:lvl9pPr>
          </a:lstStyle>
          <a:p>
            <a:pPr algn="ctr">
              <a:defRPr/>
            </a:pPr>
            <a:r>
              <a:rPr lang="en-US" altLang="en-US" sz="1800" b="1" dirty="0">
                <a:latin typeface="Times New Roman" panose="02020603050405020304" pitchFamily="18" charset="0"/>
                <a:cs typeface="Times New Roman" panose="02020603050405020304" pitchFamily="18" charset="0"/>
              </a:rPr>
              <a:t>Veerasagar S S</a:t>
            </a:r>
          </a:p>
          <a:p>
            <a:pPr algn="ctr">
              <a:defRPr/>
            </a:pPr>
            <a:r>
              <a:rPr lang="en-US" altLang="en-US" sz="1800" b="1" dirty="0">
                <a:latin typeface="Times New Roman" panose="02020603050405020304" pitchFamily="18" charset="0"/>
                <a:cs typeface="Times New Roman" panose="02020603050405020304" pitchFamily="18" charset="0"/>
              </a:rPr>
              <a:t>1RV24SCS17</a:t>
            </a:r>
          </a:p>
          <a:p>
            <a:pPr algn="ctr">
              <a:defRPr/>
            </a:pPr>
            <a:r>
              <a:rPr lang="en-US" altLang="en-US" sz="1800" b="1" dirty="0">
                <a:latin typeface="Times New Roman" panose="02020603050405020304" pitchFamily="18" charset="0"/>
                <a:cs typeface="Times New Roman" panose="02020603050405020304" pitchFamily="18" charset="0"/>
              </a:rPr>
              <a:t> Centre of Competence in Visual Computing</a:t>
            </a:r>
          </a:p>
          <a:p>
            <a:pPr algn="ctr">
              <a:defRPr/>
            </a:pPr>
            <a:endParaRPr lang="en-US" altLang="en-US" sz="1800" dirty="0">
              <a:latin typeface="Times New Roman" panose="02020603050405020304" pitchFamily="18" charset="0"/>
              <a:cs typeface="Times New Roman" panose="02020603050405020304" pitchFamily="18" charset="0"/>
            </a:endParaRPr>
          </a:p>
          <a:p>
            <a:pPr>
              <a:defRPr/>
            </a:pPr>
            <a:r>
              <a:rPr lang="en-US" altLang="en-US" sz="1600" kern="0" dirty="0">
                <a:latin typeface="Times New Roman" panose="02020603050405020304" pitchFamily="18" charset="0"/>
                <a:cs typeface="Times New Roman" panose="02020603050405020304" pitchFamily="18" charset="0"/>
              </a:rPr>
              <a:t>					</a:t>
            </a:r>
          </a:p>
          <a:p>
            <a:pPr>
              <a:defRPr/>
            </a:pPr>
            <a:endParaRPr lang="en-US" altLang="en-US" sz="1600" dirty="0"/>
          </a:p>
        </p:txBody>
      </p:sp>
      <p:graphicFrame>
        <p:nvGraphicFramePr>
          <p:cNvPr id="5" name="Table 4">
            <a:extLst>
              <a:ext uri="{FF2B5EF4-FFF2-40B4-BE49-F238E27FC236}">
                <a16:creationId xmlns:a16="http://schemas.microsoft.com/office/drawing/2014/main" id="{7A851E1B-EEFF-8D74-1E7D-FF9080F4E11B}"/>
              </a:ext>
            </a:extLst>
          </p:cNvPr>
          <p:cNvGraphicFramePr>
            <a:graphicFrameLocks noGrp="1"/>
          </p:cNvGraphicFramePr>
          <p:nvPr>
            <p:extLst>
              <p:ext uri="{D42A27DB-BD31-4B8C-83A1-F6EECF244321}">
                <p14:modId xmlns:p14="http://schemas.microsoft.com/office/powerpoint/2010/main" val="1111613009"/>
              </p:ext>
            </p:extLst>
          </p:nvPr>
        </p:nvGraphicFramePr>
        <p:xfrm>
          <a:off x="244698" y="3490139"/>
          <a:ext cx="8654604" cy="1310640"/>
        </p:xfrm>
        <a:graphic>
          <a:graphicData uri="http://schemas.openxmlformats.org/drawingml/2006/table">
            <a:tbl>
              <a:tblPr firstRow="1" bandRow="1">
                <a:tableStyleId>{5C22544A-7EE6-4342-B048-85BDC9FD1C3A}</a:tableStyleId>
              </a:tblPr>
              <a:tblGrid>
                <a:gridCol w="4327302">
                  <a:extLst>
                    <a:ext uri="{9D8B030D-6E8A-4147-A177-3AD203B41FA5}">
                      <a16:colId xmlns:a16="http://schemas.microsoft.com/office/drawing/2014/main" val="2055264489"/>
                    </a:ext>
                  </a:extLst>
                </a:gridCol>
                <a:gridCol w="4327302">
                  <a:extLst>
                    <a:ext uri="{9D8B030D-6E8A-4147-A177-3AD203B41FA5}">
                      <a16:colId xmlns:a16="http://schemas.microsoft.com/office/drawing/2014/main" val="3215482928"/>
                    </a:ext>
                  </a:extLst>
                </a:gridCol>
              </a:tblGrid>
              <a:tr h="601432">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Internal Guide Name: </a:t>
                      </a:r>
                      <a:r>
                        <a:rPr lang="en-US" sz="1600" b="1" dirty="0">
                          <a:solidFill>
                            <a:schemeClr val="tx1"/>
                          </a:solidFill>
                          <a:latin typeface="Times New Roman" panose="02020603050405020304" pitchFamily="18" charset="0"/>
                          <a:cs typeface="Times New Roman" panose="02020603050405020304" pitchFamily="18" charset="0"/>
                        </a:rPr>
                        <a:t>Dr. Soumya A</a:t>
                      </a:r>
                    </a:p>
                    <a:p>
                      <a:pPr algn="ctr"/>
                      <a:r>
                        <a:rPr lang="en-US" sz="1600" b="0" dirty="0">
                          <a:solidFill>
                            <a:schemeClr val="tx1"/>
                          </a:solidFill>
                          <a:latin typeface="Times New Roman" panose="02020603050405020304" pitchFamily="18" charset="0"/>
                          <a:cs typeface="Times New Roman" panose="02020603050405020304" pitchFamily="18" charset="0"/>
                        </a:rPr>
                        <a:t>Designation: Professor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0" dirty="0">
                          <a:solidFill>
                            <a:schemeClr val="tx1"/>
                          </a:solidFill>
                          <a:latin typeface="Times New Roman" panose="02020603050405020304" pitchFamily="18" charset="0"/>
                          <a:cs typeface="Times New Roman" panose="02020603050405020304" pitchFamily="18" charset="0"/>
                        </a:rPr>
                        <a:t>Organization: R. V. College Of Engineering</a:t>
                      </a:r>
                    </a:p>
                    <a:p>
                      <a:pPr algn="ctr"/>
                      <a:endParaRPr 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External Guide Name: </a:t>
                      </a:r>
                      <a:r>
                        <a:rPr lang="en-US" sz="1600" b="1" dirty="0">
                          <a:solidFill>
                            <a:schemeClr val="tx1"/>
                          </a:solidFill>
                          <a:latin typeface="Times New Roman" panose="02020603050405020304" pitchFamily="18" charset="0"/>
                          <a:cs typeface="Times New Roman" panose="02020603050405020304" pitchFamily="18" charset="0"/>
                        </a:rPr>
                        <a:t>Dr. M S Srividya</a:t>
                      </a:r>
                    </a:p>
                    <a:p>
                      <a:pPr algn="ctr"/>
                      <a:r>
                        <a:rPr lang="en-US" sz="1600" b="0" dirty="0">
                          <a:solidFill>
                            <a:schemeClr val="tx1"/>
                          </a:solidFill>
                          <a:latin typeface="Times New Roman" panose="02020603050405020304" pitchFamily="18" charset="0"/>
                          <a:cs typeface="Times New Roman" panose="02020603050405020304" pitchFamily="18" charset="0"/>
                        </a:rPr>
                        <a:t>Designation: Professor</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0" dirty="0">
                          <a:solidFill>
                            <a:schemeClr val="tx1"/>
                          </a:solidFill>
                          <a:latin typeface="Times New Roman" panose="02020603050405020304" pitchFamily="18" charset="0"/>
                          <a:cs typeface="Times New Roman" panose="02020603050405020304" pitchFamily="18" charset="0"/>
                        </a:rPr>
                        <a:t>Organization : R. V. College Of Engineering</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600" b="0" dirty="0">
                        <a:solidFill>
                          <a:schemeClr val="tx1"/>
                        </a:solidFill>
                        <a:latin typeface="Times New Roman" panose="02020603050405020304" pitchFamily="18" charset="0"/>
                        <a:cs typeface="Times New Roman" panose="02020603050405020304" pitchFamily="18" charset="0"/>
                      </a:endParaRPr>
                    </a:p>
                    <a:p>
                      <a:pPr algn="ctr"/>
                      <a:endParaRPr 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16082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object 2">
            <a:extLst>
              <a:ext uri="{FF2B5EF4-FFF2-40B4-BE49-F238E27FC236}">
                <a16:creationId xmlns:a16="http://schemas.microsoft.com/office/drawing/2014/main" id="{14B67595-1B51-83EF-7FC9-8270560311A2}"/>
              </a:ext>
            </a:extLst>
          </p:cNvPr>
          <p:cNvSpPr txBox="1">
            <a:spLocks noChangeArrowheads="1"/>
          </p:cNvSpPr>
          <p:nvPr/>
        </p:nvSpPr>
        <p:spPr bwMode="auto">
          <a:xfrm>
            <a:off x="808444" y="684587"/>
            <a:ext cx="7645705" cy="435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698500" indent="-685800">
              <a:spcBef>
                <a:spcPct val="20000"/>
              </a:spcBef>
              <a:tabLst>
                <a:tab pos="8416925" algn="l"/>
              </a:tabLst>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tabLst>
                <a:tab pos="8416925" algn="l"/>
              </a:tabLst>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tabLst>
                <a:tab pos="8416925" algn="l"/>
              </a:tabLst>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tabLst>
                <a:tab pos="8416925" algn="l"/>
              </a:tabLst>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tabLst>
                <a:tab pos="8416925" algn="l"/>
              </a:tabLst>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tabLst>
                <a:tab pos="8416925" algn="l"/>
              </a:tabLs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tabLst>
                <a:tab pos="8416925" algn="l"/>
              </a:tabLs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tabLst>
                <a:tab pos="8416925" algn="l"/>
              </a:tabLs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tabLst>
                <a:tab pos="8416925" algn="l"/>
              </a:tabLst>
              <a:defRPr>
                <a:solidFill>
                  <a:schemeClr val="tx1"/>
                </a:solidFill>
                <a:latin typeface="Calibri" panose="020F0502020204030204" pitchFamily="34" charset="0"/>
                <a:ea typeface="ＭＳ Ｐゴシック" panose="020B0600070205080204" pitchFamily="34" charset="-128"/>
              </a:defRPr>
            </a:lvl9pPr>
          </a:lstStyle>
          <a:p>
            <a:pPr>
              <a:buFontTx/>
              <a:buChar char="•"/>
            </a:pPr>
            <a:r>
              <a:rPr lang="en-US" altLang="en-US" sz="1600" dirty="0">
                <a:latin typeface="Times New Roman" panose="02020603050405020304" pitchFamily="18" charset="0"/>
                <a:cs typeface="Times New Roman" panose="02020603050405020304" pitchFamily="18" charset="0"/>
              </a:rPr>
              <a:t>Introduction about the Internship</a:t>
            </a:r>
          </a:p>
          <a:p>
            <a:pPr>
              <a:buFontTx/>
              <a:buChar char="•"/>
            </a:pPr>
            <a:r>
              <a:rPr lang="en-IN" sz="1600" dirty="0">
                <a:latin typeface="Times New Roman" panose="02020603050405020304" pitchFamily="18" charset="0"/>
                <a:cs typeface="Times New Roman" panose="02020603050405020304" pitchFamily="18" charset="0"/>
              </a:rPr>
              <a:t>Exploration and Organizational Understanding</a:t>
            </a:r>
          </a:p>
          <a:p>
            <a:pPr marL="1200150" lvl="3" indent="-285750">
              <a:buFont typeface="Arial" panose="020B0604020202020204" pitchFamily="34" charset="0"/>
              <a:buChar char="•"/>
            </a:pPr>
            <a:r>
              <a:rPr lang="en-IN" dirty="0"/>
              <a:t>Workplace Description</a:t>
            </a:r>
          </a:p>
          <a:p>
            <a:pPr marL="1200150" lvl="3" indent="-285750">
              <a:buFont typeface="Arial" panose="020B0604020202020204" pitchFamily="34" charset="0"/>
              <a:buChar char="•"/>
            </a:pPr>
            <a:r>
              <a:rPr lang="en-IN" dirty="0"/>
              <a:t>Product/Service Knowledge,   Organizational Concepts</a:t>
            </a:r>
            <a:endParaRPr lang="en-IN" sz="2000" dirty="0">
              <a:latin typeface="Times New Roman" panose="02020603050405020304" pitchFamily="18" charset="0"/>
              <a:cs typeface="Times New Roman" panose="02020603050405020304" pitchFamily="18" charset="0"/>
            </a:endParaRPr>
          </a:p>
          <a:p>
            <a:pPr>
              <a:buFontTx/>
              <a:buChar char="•"/>
            </a:pPr>
            <a:r>
              <a:rPr lang="en-IN" sz="1600" dirty="0">
                <a:latin typeface="Times New Roman" panose="02020603050405020304" pitchFamily="18" charset="0"/>
                <a:cs typeface="Times New Roman" panose="02020603050405020304" pitchFamily="18" charset="0"/>
              </a:rPr>
              <a:t>Communication, Research, Teamwork, and Leadership </a:t>
            </a:r>
          </a:p>
          <a:p>
            <a:pPr lvl="2">
              <a:buFontTx/>
              <a:buChar char="•"/>
            </a:pPr>
            <a:r>
              <a:rPr lang="en-IN" dirty="0"/>
              <a:t>Writing &amp; Oral Communication,   Research &amp; Technology Use </a:t>
            </a:r>
          </a:p>
          <a:p>
            <a:pPr lvl="2">
              <a:buFontTx/>
              <a:buChar char="•"/>
            </a:pPr>
            <a:r>
              <a:rPr lang="en-IN" dirty="0"/>
              <a:t>Teamwork ,         Leadership</a:t>
            </a:r>
            <a:endParaRPr lang="en-IN" b="1" dirty="0"/>
          </a:p>
          <a:p>
            <a:pPr>
              <a:buFontTx/>
              <a:buChar char="•"/>
            </a:pPr>
            <a:r>
              <a:rPr lang="en-IN" sz="1600" dirty="0">
                <a:latin typeface="Times New Roman" panose="02020603050405020304" pitchFamily="18" charset="0"/>
                <a:cs typeface="Times New Roman" panose="02020603050405020304" pitchFamily="18" charset="0"/>
              </a:rPr>
              <a:t>Higher Order Thinking and Ethical Problem Solving  </a:t>
            </a:r>
          </a:p>
          <a:p>
            <a:pPr lvl="2">
              <a:buFontTx/>
              <a:buChar char="•"/>
            </a:pPr>
            <a:r>
              <a:rPr lang="en-IN" dirty="0"/>
              <a:t>Critical Thinking,       Problem Solving </a:t>
            </a:r>
          </a:p>
          <a:p>
            <a:pPr lvl="2">
              <a:buFontTx/>
              <a:buChar char="•"/>
            </a:pPr>
            <a:r>
              <a:rPr lang="en-IN" dirty="0"/>
              <a:t>Synthesis &amp; Evaluation,    Ethical Standards</a:t>
            </a:r>
          </a:p>
          <a:p>
            <a:pPr>
              <a:buFontTx/>
              <a:buChar char="•"/>
            </a:pPr>
            <a:r>
              <a:rPr lang="en-IN" sz="1600" dirty="0">
                <a:latin typeface="Times New Roman" panose="02020603050405020304" pitchFamily="18" charset="0"/>
                <a:cs typeface="Times New Roman" panose="02020603050405020304" pitchFamily="18" charset="0"/>
              </a:rPr>
              <a:t>Program-Specific Skills and Tool Application  </a:t>
            </a:r>
          </a:p>
          <a:p>
            <a:pPr lvl="2">
              <a:buFontTx/>
              <a:buChar char="•"/>
            </a:pPr>
            <a:r>
              <a:rPr lang="en-IN" dirty="0"/>
              <a:t>Technical Competency </a:t>
            </a:r>
          </a:p>
          <a:p>
            <a:pPr lvl="2">
              <a:buFontTx/>
              <a:buChar char="•"/>
            </a:pPr>
            <a:r>
              <a:rPr lang="en-IN" dirty="0"/>
              <a:t>Knowledge Application </a:t>
            </a:r>
          </a:p>
          <a:p>
            <a:pPr lvl="2">
              <a:buFontTx/>
              <a:buChar char="•"/>
            </a:pPr>
            <a:r>
              <a:rPr lang="en-IN" dirty="0"/>
              <a:t>Innovation &amp; Creativity </a:t>
            </a:r>
          </a:p>
          <a:p>
            <a:pPr lvl="2">
              <a:buFontTx/>
              <a:buChar char="•"/>
            </a:pPr>
            <a:r>
              <a:rPr lang="en-IN" dirty="0"/>
              <a:t>Relevance to Specialization</a:t>
            </a:r>
            <a:endParaRPr lang="en-IN" altLang="en-US" sz="2000" dirty="0">
              <a:latin typeface="Times New Roman" panose="02020603050405020304" pitchFamily="18" charset="0"/>
              <a:cs typeface="Times New Roman" panose="02020603050405020304" pitchFamily="18" charset="0"/>
            </a:endParaRPr>
          </a:p>
          <a:p>
            <a:pPr>
              <a:buFontTx/>
              <a:buChar char="•"/>
            </a:pPr>
            <a:r>
              <a:rPr lang="en-US" altLang="en-US" sz="2000" dirty="0">
                <a:latin typeface="Times New Roman" panose="02020603050405020304" pitchFamily="18" charset="0"/>
                <a:cs typeface="Times New Roman" panose="02020603050405020304" pitchFamily="18" charset="0"/>
              </a:rPr>
              <a:t>References</a:t>
            </a:r>
          </a:p>
        </p:txBody>
      </p:sp>
      <p:sp>
        <p:nvSpPr>
          <p:cNvPr id="3" name="object 9">
            <a:extLst>
              <a:ext uri="{FF2B5EF4-FFF2-40B4-BE49-F238E27FC236}">
                <a16:creationId xmlns:a16="http://schemas.microsoft.com/office/drawing/2014/main" id="{1C6535F3-EE55-3BB0-8314-AEE11BB14C2A}"/>
              </a:ext>
            </a:extLst>
          </p:cNvPr>
          <p:cNvSpPr txBox="1">
            <a:spLocks noChangeArrowheads="1"/>
          </p:cNvSpPr>
          <p:nvPr/>
        </p:nvSpPr>
        <p:spPr bwMode="auto">
          <a:xfrm>
            <a:off x="2752874" y="210473"/>
            <a:ext cx="4610750" cy="31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tabLst>
                <a:tab pos="6483350" algn="l"/>
              </a:tabLst>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tabLst>
                <a:tab pos="6483350" algn="l"/>
              </a:tabLst>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tabLst>
                <a:tab pos="6483350" algn="l"/>
              </a:tabLst>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tabLst>
                <a:tab pos="6483350" algn="l"/>
              </a:tabLst>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tabLst>
                <a:tab pos="6483350" algn="l"/>
              </a:tabLst>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tabLst>
                <a:tab pos="6483350" algn="l"/>
              </a:tabLs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tabLst>
                <a:tab pos="6483350" algn="l"/>
              </a:tabLs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tabLst>
                <a:tab pos="6483350" algn="l"/>
              </a:tabLs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tabLst>
                <a:tab pos="6483350" algn="l"/>
              </a:tabLst>
              <a:defRPr>
                <a:solidFill>
                  <a:schemeClr val="tx1"/>
                </a:solidFill>
                <a:latin typeface="Calibri" panose="020F0502020204030204" pitchFamily="34" charset="0"/>
                <a:ea typeface="ＭＳ Ｐゴシック" panose="020B0600070205080204" pitchFamily="34" charset="-128"/>
              </a:defRPr>
            </a:lvl9pPr>
          </a:lstStyle>
          <a:p>
            <a:pPr eaLnBrk="1" hangingPunct="1">
              <a:spcBef>
                <a:spcPts val="100"/>
              </a:spcBef>
            </a:pPr>
            <a:r>
              <a:rPr lang="en-US" altLang="en-US" sz="2000" dirty="0">
                <a:latin typeface="Times New Roman" panose="02020603050405020304" pitchFamily="18" charset="0"/>
                <a:cs typeface="Times New Roman" panose="02020603050405020304" pitchFamily="18" charset="0"/>
              </a:rPr>
              <a:t>PRESENTATION CONTENTS</a:t>
            </a:r>
            <a:endParaRPr lang="en-US" altLang="en-US" sz="4900" dirty="0">
              <a:solidFill>
                <a:srgbClr val="005893"/>
              </a:solidFill>
              <a:latin typeface="Playfair Display" panose="00000500000000000000" pitchFamily="2"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2" name="object 8">
            <a:extLst>
              <a:ext uri="{FF2B5EF4-FFF2-40B4-BE49-F238E27FC236}">
                <a16:creationId xmlns:a16="http://schemas.microsoft.com/office/drawing/2014/main" id="{F2E7B7E9-21CB-4681-BDA3-90D7F3F4E983}"/>
              </a:ext>
            </a:extLst>
          </p:cNvPr>
          <p:cNvSpPr txBox="1">
            <a:spLocks noChangeArrowheads="1"/>
          </p:cNvSpPr>
          <p:nvPr/>
        </p:nvSpPr>
        <p:spPr bwMode="auto">
          <a:xfrm>
            <a:off x="2750978" y="361526"/>
            <a:ext cx="4105141" cy="31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spcBef>
                <a:spcPct val="0"/>
              </a:spcBef>
            </a:pPr>
            <a:r>
              <a:rPr lang="en-US" altLang="en-US" sz="2000" dirty="0">
                <a:latin typeface="Times New Roman" panose="02020603050405020304" pitchFamily="18" charset="0"/>
                <a:cs typeface="Times New Roman" panose="02020603050405020304" pitchFamily="18" charset="0"/>
              </a:rPr>
              <a:t>Introduction about the Internship</a:t>
            </a:r>
            <a:endParaRPr lang="en-US" altLang="en-US" sz="2000" dirty="0">
              <a:solidFill>
                <a:schemeClr val="tx2"/>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E2881D04-D7F2-B316-740F-8B52ABA6CD89}"/>
              </a:ext>
            </a:extLst>
          </p:cNvPr>
          <p:cNvSpPr>
            <a:spLocks noChangeArrowheads="1"/>
          </p:cNvSpPr>
          <p:nvPr/>
        </p:nvSpPr>
        <p:spPr bwMode="auto">
          <a:xfrm>
            <a:off x="255814" y="1214799"/>
            <a:ext cx="8632371" cy="2888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lnSpc>
                <a:spcPct val="150000"/>
              </a:lnSpc>
              <a:spcAft>
                <a:spcPts val="1000"/>
              </a:spcAft>
              <a:buFont typeface="Arial" panose="020B0604020202020204" pitchFamily="34" charset="0"/>
              <a:buChar char="•"/>
            </a:pPr>
            <a:r>
              <a:rPr lang="en-US" sz="1600" dirty="0"/>
              <a:t>The program begins with foundational topics such as </a:t>
            </a:r>
            <a:r>
              <a:rPr lang="en-US" sz="1600" b="1" dirty="0"/>
              <a:t>Python programming</a:t>
            </a:r>
            <a:r>
              <a:rPr lang="en-US" sz="1600" dirty="0"/>
              <a:t>, emphasizing libraries like NumPy, Pandas, Matplotlib, and Seaborn for data handling and visualization.</a:t>
            </a:r>
          </a:p>
          <a:p>
            <a:pPr marL="285750" indent="-285750" algn="just">
              <a:lnSpc>
                <a:spcPct val="150000"/>
              </a:lnSpc>
              <a:spcAft>
                <a:spcPts val="1000"/>
              </a:spcAft>
              <a:buFont typeface="Arial" panose="020B0604020202020204" pitchFamily="34" charset="0"/>
              <a:buChar char="•"/>
            </a:pPr>
            <a:r>
              <a:rPr lang="en-US" sz="1600" dirty="0"/>
              <a:t>We then explore </a:t>
            </a:r>
            <a:r>
              <a:rPr lang="en-US" sz="1600" b="1" dirty="0"/>
              <a:t>data analytics</a:t>
            </a:r>
            <a:r>
              <a:rPr lang="en-US" sz="1600" dirty="0"/>
              <a:t> using tools like </a:t>
            </a:r>
            <a:r>
              <a:rPr lang="en-US" sz="1600" b="1" dirty="0"/>
              <a:t>Tableau, Power BI, and R</a:t>
            </a:r>
            <a:r>
              <a:rPr lang="en-US" sz="1600" dirty="0"/>
              <a:t>, followed by </a:t>
            </a:r>
            <a:r>
              <a:rPr lang="en-US" sz="1600" b="1" dirty="0"/>
              <a:t>image processing with OpenCV</a:t>
            </a:r>
            <a:r>
              <a:rPr lang="en-US" sz="1600" dirty="0"/>
              <a:t>.</a:t>
            </a:r>
          </a:p>
          <a:p>
            <a:pPr marL="285750" indent="-285750" algn="just">
              <a:lnSpc>
                <a:spcPct val="150000"/>
              </a:lnSpc>
              <a:spcAft>
                <a:spcPts val="1000"/>
              </a:spcAft>
              <a:buFont typeface="Arial" panose="020B0604020202020204" pitchFamily="34" charset="0"/>
              <a:buChar char="•"/>
            </a:pPr>
            <a:r>
              <a:rPr lang="en-US" sz="1600" dirty="0"/>
              <a:t>Building on these fundamentals, the next phase introduces </a:t>
            </a:r>
            <a:r>
              <a:rPr lang="en-US" sz="1600" b="1" dirty="0"/>
              <a:t>machine learning concepts</a:t>
            </a:r>
            <a:r>
              <a:rPr lang="en-US" sz="1600" dirty="0"/>
              <a:t> including linear and logistic regression, supervised learning algorithms like Decision Trees, KNN, and unsupervised learning through K-means clustering.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6C1D2845-776C-9FDF-1BC2-29B61C424B63}"/>
            </a:ext>
          </a:extLst>
        </p:cNvPr>
        <p:cNvGrpSpPr/>
        <p:nvPr/>
      </p:nvGrpSpPr>
      <p:grpSpPr>
        <a:xfrm>
          <a:off x="0" y="0"/>
          <a:ext cx="0" cy="0"/>
          <a:chOff x="0" y="0"/>
          <a:chExt cx="0" cy="0"/>
        </a:xfrm>
      </p:grpSpPr>
      <p:sp>
        <p:nvSpPr>
          <p:cNvPr id="2" name="object 8">
            <a:extLst>
              <a:ext uri="{FF2B5EF4-FFF2-40B4-BE49-F238E27FC236}">
                <a16:creationId xmlns:a16="http://schemas.microsoft.com/office/drawing/2014/main" id="{BFBE6B3E-DE6D-CEC0-2529-0AA806B2EAFC}"/>
              </a:ext>
            </a:extLst>
          </p:cNvPr>
          <p:cNvSpPr txBox="1">
            <a:spLocks noChangeArrowheads="1"/>
          </p:cNvSpPr>
          <p:nvPr/>
        </p:nvSpPr>
        <p:spPr bwMode="auto">
          <a:xfrm>
            <a:off x="2750978" y="361526"/>
            <a:ext cx="4105141" cy="31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spcBef>
                <a:spcPct val="0"/>
              </a:spcBef>
            </a:pPr>
            <a:r>
              <a:rPr lang="en-US" altLang="en-US" sz="2000" dirty="0">
                <a:latin typeface="Times New Roman" panose="02020603050405020304" pitchFamily="18" charset="0"/>
                <a:cs typeface="Times New Roman" panose="02020603050405020304" pitchFamily="18" charset="0"/>
              </a:rPr>
              <a:t>Introduction about the Internship</a:t>
            </a:r>
            <a:endParaRPr lang="en-US" altLang="en-US" sz="2000" dirty="0">
              <a:solidFill>
                <a:schemeClr val="tx2"/>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AF6537FD-E3E7-F113-F4F6-2B848B3E5615}"/>
              </a:ext>
            </a:extLst>
          </p:cNvPr>
          <p:cNvSpPr>
            <a:spLocks noChangeArrowheads="1"/>
          </p:cNvSpPr>
          <p:nvPr/>
        </p:nvSpPr>
        <p:spPr bwMode="auto">
          <a:xfrm>
            <a:off x="255814" y="1373377"/>
            <a:ext cx="8632371" cy="2396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1" indent="-285750" algn="just">
              <a:lnSpc>
                <a:spcPct val="150000"/>
              </a:lnSpc>
              <a:spcAft>
                <a:spcPts val="1000"/>
              </a:spcAft>
              <a:buFont typeface="Arial" panose="020B0604020202020204" pitchFamily="34" charset="0"/>
              <a:buChar char="•"/>
            </a:pPr>
            <a:r>
              <a:rPr lang="en-US" sz="1600" dirty="0"/>
              <a:t>The internship advances into </a:t>
            </a:r>
            <a:r>
              <a:rPr lang="en-US" sz="1600" b="1" dirty="0"/>
              <a:t>neural networks</a:t>
            </a:r>
            <a:r>
              <a:rPr lang="en-US" sz="1600" dirty="0"/>
              <a:t> and their variants (CNN, RNN), </a:t>
            </a:r>
            <a:r>
              <a:rPr lang="en-US" sz="1600" b="1" dirty="0"/>
              <a:t>ensemble learning</a:t>
            </a:r>
            <a:r>
              <a:rPr lang="en-US" sz="1600" dirty="0"/>
              <a:t>, and </a:t>
            </a:r>
            <a:r>
              <a:rPr lang="en-US" sz="1600" b="1" dirty="0"/>
              <a:t>transformer models</a:t>
            </a:r>
            <a:r>
              <a:rPr lang="en-US" sz="1600" dirty="0"/>
              <a:t> for advanced visual computing applications. </a:t>
            </a:r>
          </a:p>
          <a:p>
            <a:pPr marL="285750" lvl="1" indent="-285750" algn="just">
              <a:lnSpc>
                <a:spcPct val="150000"/>
              </a:lnSpc>
              <a:spcAft>
                <a:spcPts val="1000"/>
              </a:spcAft>
              <a:buFont typeface="Arial" panose="020B0604020202020204" pitchFamily="34" charset="0"/>
              <a:buChar char="•"/>
            </a:pPr>
            <a:r>
              <a:rPr lang="en-US" sz="1600" dirty="0"/>
              <a:t>The final modules focus on </a:t>
            </a:r>
            <a:r>
              <a:rPr lang="en-US" sz="1600" b="1" dirty="0"/>
              <a:t>LLMs and Generative AI tools</a:t>
            </a:r>
            <a:r>
              <a:rPr lang="en-US" sz="1600" dirty="0"/>
              <a:t>, literature exploration, algorithm selection, dataset analysis, implementation, and project presentation ensuring participants gain both theoretical understanding and practical project-based expertise in visual computing.</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33867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2" name="object 8">
            <a:extLst>
              <a:ext uri="{FF2B5EF4-FFF2-40B4-BE49-F238E27FC236}">
                <a16:creationId xmlns:a16="http://schemas.microsoft.com/office/drawing/2014/main" id="{B1C6201D-91E0-7567-93DE-89237FBBDC44}"/>
              </a:ext>
            </a:extLst>
          </p:cNvPr>
          <p:cNvSpPr txBox="1">
            <a:spLocks noChangeArrowheads="1"/>
          </p:cNvSpPr>
          <p:nvPr/>
        </p:nvSpPr>
        <p:spPr bwMode="auto">
          <a:xfrm>
            <a:off x="1993356" y="334727"/>
            <a:ext cx="5157285" cy="31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r>
              <a:rPr lang="en-IN" sz="2000" dirty="0">
                <a:latin typeface="Times New Roman" panose="02020603050405020304" pitchFamily="18" charset="0"/>
                <a:cs typeface="Times New Roman" panose="02020603050405020304" pitchFamily="18" charset="0"/>
              </a:rPr>
              <a:t>Exploration and Organizational Understanding</a:t>
            </a:r>
          </a:p>
        </p:txBody>
      </p:sp>
      <p:sp>
        <p:nvSpPr>
          <p:cNvPr id="4" name="TextBox 3">
            <a:extLst>
              <a:ext uri="{FF2B5EF4-FFF2-40B4-BE49-F238E27FC236}">
                <a16:creationId xmlns:a16="http://schemas.microsoft.com/office/drawing/2014/main" id="{F5EAD5DA-5BF1-2E7A-6B85-7D42DA659CCC}"/>
              </a:ext>
            </a:extLst>
          </p:cNvPr>
          <p:cNvSpPr txBox="1"/>
          <p:nvPr/>
        </p:nvSpPr>
        <p:spPr>
          <a:xfrm>
            <a:off x="294290" y="1030014"/>
            <a:ext cx="8660524" cy="337207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Industry-Certified Internship Program at RV College of Engineering, Bengaluru emphasizes practical upskilling and career preparedness, aligning with AICTE’s mandate for experiential learning in engineering education.</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Students participate in multidisciplinary, cutting-edge projects under the guidance of expert faculty mentors.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Through exposure to various </a:t>
            </a:r>
            <a:r>
              <a:rPr lang="en-US" sz="1600" dirty="0" err="1">
                <a:latin typeface="Times New Roman" panose="02020603050405020304" pitchFamily="18" charset="0"/>
                <a:cs typeface="Times New Roman" panose="02020603050405020304" pitchFamily="18" charset="0"/>
              </a:rPr>
              <a:t>Centres</a:t>
            </a:r>
            <a:r>
              <a:rPr lang="en-US" sz="1600" dirty="0">
                <a:latin typeface="Times New Roman" panose="02020603050405020304" pitchFamily="18" charset="0"/>
                <a:cs typeface="Times New Roman" panose="02020603050405020304" pitchFamily="18" charset="0"/>
              </a:rPr>
              <a:t> of Excellence and Competence, participants strengthen their technical, analytical, and research capabilities.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program fosters hands-on learning, professional networking, and transforms students into industry-ready engineers.</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7463" y="177354"/>
            <a:ext cx="4253847" cy="726535"/>
          </a:xfrm>
        </p:spPr>
        <p:txBody>
          <a:bodyPr>
            <a:normAutofit fontScale="90000"/>
          </a:bodyPr>
          <a:lstStyle/>
          <a:p>
            <a:pPr algn="ctr"/>
            <a:r>
              <a:rPr lang="en-IN" sz="2200" dirty="0">
                <a:latin typeface="Times New Roman" panose="02020603050405020304" pitchFamily="18" charset="0"/>
                <a:cs typeface="Times New Roman" panose="02020603050405020304" pitchFamily="18" charset="0"/>
              </a:rPr>
              <a:t>Organizational Concepts</a:t>
            </a:r>
            <a:br>
              <a:rPr lang="en-IN" sz="2200" dirty="0">
                <a:latin typeface="Times New Roman" panose="02020603050405020304" pitchFamily="18" charset="0"/>
                <a:cs typeface="Times New Roman" panose="02020603050405020304" pitchFamily="18" charset="0"/>
              </a:rPr>
            </a:br>
            <a:br>
              <a:rPr lang="en-IN" dirty="0"/>
            </a:br>
            <a:endParaRPr lang="en-IN" dirty="0"/>
          </a:p>
        </p:txBody>
      </p:sp>
      <p:sp>
        <p:nvSpPr>
          <p:cNvPr id="6" name="TextBox 5">
            <a:extLst>
              <a:ext uri="{FF2B5EF4-FFF2-40B4-BE49-F238E27FC236}">
                <a16:creationId xmlns:a16="http://schemas.microsoft.com/office/drawing/2014/main" id="{E0DBD720-DB93-6A02-D5F8-C8616B27097F}"/>
              </a:ext>
            </a:extLst>
          </p:cNvPr>
          <p:cNvSpPr txBox="1"/>
          <p:nvPr/>
        </p:nvSpPr>
        <p:spPr>
          <a:xfrm>
            <a:off x="273270" y="903888"/>
            <a:ext cx="8628992" cy="337182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b="1" dirty="0"/>
              <a:t>Python Programming and Image Processing:</a:t>
            </a:r>
            <a:endParaRPr lang="en-US" sz="1600" dirty="0"/>
          </a:p>
          <a:p>
            <a:pPr marL="285750" lvl="6" indent="-285750" algn="just">
              <a:lnSpc>
                <a:spcPct val="150000"/>
              </a:lnSpc>
              <a:buFont typeface="Arial" panose="020B0604020202020204" pitchFamily="34" charset="0"/>
              <a:buChar char="•"/>
            </a:pPr>
            <a:r>
              <a:rPr lang="en-US" sz="1600" dirty="0"/>
              <a:t>This module provides a strong foundation in Python programming, emphasizing its powerful libraries such as </a:t>
            </a:r>
            <a:r>
              <a:rPr lang="en-US" sz="1600" b="1" dirty="0"/>
              <a:t>NumPy</a:t>
            </a:r>
            <a:r>
              <a:rPr lang="en-US" sz="1600" dirty="0"/>
              <a:t>, </a:t>
            </a:r>
            <a:r>
              <a:rPr lang="en-US" sz="1600" b="1" dirty="0"/>
              <a:t>Pandas</a:t>
            </a:r>
            <a:r>
              <a:rPr lang="en-US" sz="1600" dirty="0"/>
              <a:t>, </a:t>
            </a:r>
            <a:r>
              <a:rPr lang="en-US" sz="1600" b="1" dirty="0"/>
              <a:t>Matplotlib</a:t>
            </a:r>
            <a:r>
              <a:rPr lang="en-US" sz="1600" dirty="0"/>
              <a:t>, and </a:t>
            </a:r>
            <a:r>
              <a:rPr lang="en-US" sz="1600" b="1" dirty="0"/>
              <a:t>Seaborn</a:t>
            </a:r>
            <a:r>
              <a:rPr lang="en-US" sz="1600" dirty="0"/>
              <a:t> for efficient data handling, analysis, and visualization. </a:t>
            </a:r>
          </a:p>
          <a:p>
            <a:pPr marL="285750" lvl="6" indent="-285750" algn="just">
              <a:lnSpc>
                <a:spcPct val="150000"/>
              </a:lnSpc>
              <a:buFont typeface="Arial" panose="020B0604020202020204" pitchFamily="34" charset="0"/>
              <a:buChar char="•"/>
            </a:pPr>
            <a:r>
              <a:rPr lang="en-US" sz="1600" dirty="0"/>
              <a:t>It also introduces </a:t>
            </a:r>
            <a:r>
              <a:rPr lang="en-US" sz="1600" b="1" dirty="0"/>
              <a:t>OpenCV</a:t>
            </a:r>
            <a:r>
              <a:rPr lang="en-US" sz="1600" dirty="0"/>
              <a:t>, a widely used computer vision library, enabling students to perform hands-on </a:t>
            </a:r>
            <a:r>
              <a:rPr lang="en-US" sz="1600" b="1" dirty="0"/>
              <a:t>image processing tasks</a:t>
            </a:r>
            <a:r>
              <a:rPr lang="en-US" sz="1600" dirty="0"/>
              <a:t> like filtering, edge detection, and feature extraction. </a:t>
            </a:r>
          </a:p>
          <a:p>
            <a:pPr marL="285750" lvl="6" indent="-285750" algn="just">
              <a:lnSpc>
                <a:spcPct val="150000"/>
              </a:lnSpc>
              <a:buFont typeface="Arial" panose="020B0604020202020204" pitchFamily="34" charset="0"/>
              <a:buChar char="•"/>
            </a:pPr>
            <a:r>
              <a:rPr lang="en-US" sz="1600" dirty="0"/>
              <a:t>Through practical sessions, learners gain the skills to manipulate and analyze visual data, preparing them for advanced topics in machine learning and visual computing.</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3296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7DAF4-BD28-D526-A970-85AFF4803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21576-38CE-7F62-6E07-60B5A6C18E1E}"/>
              </a:ext>
            </a:extLst>
          </p:cNvPr>
          <p:cNvSpPr>
            <a:spLocks noGrp="1"/>
          </p:cNvSpPr>
          <p:nvPr>
            <p:ph type="title"/>
          </p:nvPr>
        </p:nvSpPr>
        <p:spPr>
          <a:xfrm>
            <a:off x="2157463" y="177354"/>
            <a:ext cx="4253847" cy="726535"/>
          </a:xfrm>
        </p:spPr>
        <p:txBody>
          <a:bodyPr>
            <a:normAutofit fontScale="90000"/>
          </a:bodyPr>
          <a:lstStyle/>
          <a:p>
            <a:pPr algn="ctr"/>
            <a:r>
              <a:rPr lang="en-IN" sz="2200" dirty="0">
                <a:latin typeface="Times New Roman" panose="02020603050405020304" pitchFamily="18" charset="0"/>
                <a:cs typeface="Times New Roman" panose="02020603050405020304" pitchFamily="18" charset="0"/>
              </a:rPr>
              <a:t>Organizational Concepts</a:t>
            </a:r>
            <a:br>
              <a:rPr lang="en-IN" sz="2200" dirty="0">
                <a:latin typeface="Times New Roman" panose="02020603050405020304" pitchFamily="18" charset="0"/>
                <a:cs typeface="Times New Roman" panose="02020603050405020304" pitchFamily="18" charset="0"/>
              </a:rPr>
            </a:br>
            <a:br>
              <a:rPr lang="en-IN" dirty="0"/>
            </a:br>
            <a:endParaRPr lang="en-IN" dirty="0"/>
          </a:p>
        </p:txBody>
      </p:sp>
      <p:sp>
        <p:nvSpPr>
          <p:cNvPr id="6" name="TextBox 5">
            <a:extLst>
              <a:ext uri="{FF2B5EF4-FFF2-40B4-BE49-F238E27FC236}">
                <a16:creationId xmlns:a16="http://schemas.microsoft.com/office/drawing/2014/main" id="{D8C1B171-F768-E82F-C80C-47E373D0037D}"/>
              </a:ext>
            </a:extLst>
          </p:cNvPr>
          <p:cNvSpPr txBox="1"/>
          <p:nvPr/>
        </p:nvSpPr>
        <p:spPr>
          <a:xfrm>
            <a:off x="273270" y="903888"/>
            <a:ext cx="8628992" cy="337066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b="1" dirty="0"/>
              <a:t>Machine Learning Fundamentals:</a:t>
            </a:r>
          </a:p>
          <a:p>
            <a:pPr marL="285750" indent="-285750" algn="just">
              <a:lnSpc>
                <a:spcPct val="150000"/>
              </a:lnSpc>
              <a:buFont typeface="Arial" panose="020B0604020202020204" pitchFamily="34" charset="0"/>
              <a:buChar char="•"/>
            </a:pPr>
            <a:r>
              <a:rPr lang="en-US" sz="1600" dirty="0"/>
              <a:t>This module provides an in-depth understanding of the foundational concepts and algorithms that power modern artificial intelligence. </a:t>
            </a:r>
          </a:p>
          <a:p>
            <a:pPr marL="285750" indent="-285750" algn="just">
              <a:lnSpc>
                <a:spcPct val="150000"/>
              </a:lnSpc>
              <a:buFont typeface="Arial" panose="020B0604020202020204" pitchFamily="34" charset="0"/>
              <a:buChar char="•"/>
            </a:pPr>
            <a:r>
              <a:rPr lang="en-US" sz="1600" dirty="0"/>
              <a:t>We learn how to use </a:t>
            </a:r>
            <a:r>
              <a:rPr lang="en-US" sz="1600" b="1" dirty="0"/>
              <a:t>regression techniques</a:t>
            </a:r>
            <a:r>
              <a:rPr lang="en-US" sz="1600" dirty="0"/>
              <a:t> to model relationships between variables, apply </a:t>
            </a:r>
            <a:r>
              <a:rPr lang="en-US" sz="1600" b="1" dirty="0"/>
              <a:t>classification algorithms</a:t>
            </a:r>
            <a:r>
              <a:rPr lang="en-US" sz="1600" dirty="0"/>
              <a:t> to categorize data, and perform </a:t>
            </a:r>
            <a:r>
              <a:rPr lang="en-US" sz="1600" b="1" dirty="0"/>
              <a:t>clustering</a:t>
            </a:r>
            <a:r>
              <a:rPr lang="en-US" sz="1600" dirty="0"/>
              <a:t> to discover hidden patterns in unlabeled datasets. </a:t>
            </a:r>
          </a:p>
          <a:p>
            <a:pPr marL="285750" indent="-285750" algn="just">
              <a:lnSpc>
                <a:spcPct val="150000"/>
              </a:lnSpc>
              <a:buFont typeface="Arial" panose="020B0604020202020204" pitchFamily="34" charset="0"/>
              <a:buChar char="•"/>
            </a:pPr>
            <a:r>
              <a:rPr lang="en-US" sz="1600" dirty="0"/>
              <a:t>It covers widely used models such as </a:t>
            </a:r>
            <a:r>
              <a:rPr lang="en-US" sz="1600" b="1" dirty="0"/>
              <a:t>Support Vector Machines (SVM)</a:t>
            </a:r>
            <a:r>
              <a:rPr lang="en-US" sz="1600" dirty="0"/>
              <a:t>, </a:t>
            </a:r>
            <a:r>
              <a:rPr lang="en-US" sz="1600" b="1" dirty="0"/>
              <a:t>Decision Trees</a:t>
            </a:r>
            <a:r>
              <a:rPr lang="en-US" sz="1600" dirty="0"/>
              <a:t>, </a:t>
            </a:r>
            <a:r>
              <a:rPr lang="en-US" sz="1600" b="1" dirty="0"/>
              <a:t>K-Nearest Neighbors (KNN)</a:t>
            </a:r>
            <a:r>
              <a:rPr lang="en-US" sz="1600" dirty="0"/>
              <a:t>, and </a:t>
            </a:r>
            <a:r>
              <a:rPr lang="en-US" sz="1600" b="1" dirty="0"/>
              <a:t>K-Means clustering</a:t>
            </a:r>
            <a:r>
              <a:rPr lang="en-US" sz="1600" dirty="0"/>
              <a:t>, emphasizing both theory and implementation. </a:t>
            </a:r>
          </a:p>
        </p:txBody>
      </p:sp>
    </p:spTree>
    <p:extLst>
      <p:ext uri="{BB962C8B-B14F-4D97-AF65-F5344CB8AC3E}">
        <p14:creationId xmlns:p14="http://schemas.microsoft.com/office/powerpoint/2010/main" val="959952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033D5-3B1E-FD97-0EAC-B57F5E845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7C110-7A11-A5EC-D86C-14D71CFD2B2E}"/>
              </a:ext>
            </a:extLst>
          </p:cNvPr>
          <p:cNvSpPr>
            <a:spLocks noGrp="1"/>
          </p:cNvSpPr>
          <p:nvPr>
            <p:ph type="title"/>
          </p:nvPr>
        </p:nvSpPr>
        <p:spPr>
          <a:xfrm>
            <a:off x="2157463" y="177354"/>
            <a:ext cx="4253847" cy="726535"/>
          </a:xfrm>
        </p:spPr>
        <p:txBody>
          <a:bodyPr>
            <a:normAutofit fontScale="90000"/>
          </a:bodyPr>
          <a:lstStyle/>
          <a:p>
            <a:pPr algn="ctr"/>
            <a:r>
              <a:rPr lang="en-IN" sz="2200" dirty="0">
                <a:latin typeface="Times New Roman" panose="02020603050405020304" pitchFamily="18" charset="0"/>
                <a:cs typeface="Times New Roman" panose="02020603050405020304" pitchFamily="18" charset="0"/>
              </a:rPr>
              <a:t>Organizational Concepts</a:t>
            </a:r>
            <a:br>
              <a:rPr lang="en-IN" sz="2200" dirty="0">
                <a:latin typeface="Times New Roman" panose="02020603050405020304" pitchFamily="18" charset="0"/>
                <a:cs typeface="Times New Roman" panose="02020603050405020304" pitchFamily="18" charset="0"/>
              </a:rPr>
            </a:br>
            <a:br>
              <a:rPr lang="en-IN" dirty="0"/>
            </a:br>
            <a:endParaRPr lang="en-IN" dirty="0"/>
          </a:p>
        </p:txBody>
      </p:sp>
      <p:sp>
        <p:nvSpPr>
          <p:cNvPr id="6" name="TextBox 5">
            <a:extLst>
              <a:ext uri="{FF2B5EF4-FFF2-40B4-BE49-F238E27FC236}">
                <a16:creationId xmlns:a16="http://schemas.microsoft.com/office/drawing/2014/main" id="{B63A35B0-817D-4FFA-C8A5-829BE0027834}"/>
              </a:ext>
            </a:extLst>
          </p:cNvPr>
          <p:cNvSpPr txBox="1"/>
          <p:nvPr/>
        </p:nvSpPr>
        <p:spPr>
          <a:xfrm>
            <a:off x="273270" y="903888"/>
            <a:ext cx="8628992" cy="410933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t>Neural Networks and Deep Learning:</a:t>
            </a:r>
            <a:br>
              <a:rPr lang="en-US" sz="1600" dirty="0"/>
            </a:br>
            <a:r>
              <a:rPr lang="en-US" sz="1600" dirty="0"/>
              <a:t>This module delves into the architecture and functioning of neural networks, focusing on models like </a:t>
            </a:r>
            <a:r>
              <a:rPr lang="en-US" sz="1600" b="1" dirty="0"/>
              <a:t>Convolutional Neural Networks (CNN)</a:t>
            </a:r>
            <a:r>
              <a:rPr lang="en-US" sz="1600" dirty="0"/>
              <a:t>, and </a:t>
            </a:r>
            <a:r>
              <a:rPr lang="en-US" sz="1600" b="1" dirty="0"/>
              <a:t>Recurrent Neural Networks (RNN)</a:t>
            </a:r>
            <a:r>
              <a:rPr lang="en-US" sz="1600" dirty="0"/>
              <a:t>. We learn how these deep learning models process data, recognize patterns, and solve complex tasks such as image classification </a:t>
            </a:r>
          </a:p>
          <a:p>
            <a:pPr marL="285750" indent="-285750">
              <a:lnSpc>
                <a:spcPct val="150000"/>
              </a:lnSpc>
              <a:buFont typeface="Arial" panose="020B0604020202020204" pitchFamily="34" charset="0"/>
              <a:buChar char="•"/>
            </a:pPr>
            <a:r>
              <a:rPr lang="en-US" sz="1600" b="1" dirty="0"/>
              <a:t>LLMs and Generative AI Tools:</a:t>
            </a:r>
            <a:br>
              <a:rPr lang="en-US" sz="1600" dirty="0"/>
            </a:br>
            <a:r>
              <a:rPr lang="en-US" sz="1600" dirty="0"/>
              <a:t>This module introduces </a:t>
            </a:r>
            <a:r>
              <a:rPr lang="en-US" sz="1600" b="1" dirty="0"/>
              <a:t>transformer-based Large Language Models (LLMs)</a:t>
            </a:r>
            <a:r>
              <a:rPr lang="en-US" sz="1600" dirty="0"/>
              <a:t> and </a:t>
            </a:r>
            <a:r>
              <a:rPr lang="en-US" sz="1600" b="1" dirty="0"/>
              <a:t>Generative AI technologies</a:t>
            </a:r>
            <a:r>
              <a:rPr lang="en-US" sz="1600" dirty="0"/>
              <a:t>, highlighting their ability to understand, generate, and transform content across text, image, and multimodal domains. We explore their applications in automation, creativity, and intelligent system design, gaining insight into the next generation of AI innovations.</a:t>
            </a:r>
          </a:p>
        </p:txBody>
      </p:sp>
    </p:spTree>
    <p:extLst>
      <p:ext uri="{BB962C8B-B14F-4D97-AF65-F5344CB8AC3E}">
        <p14:creationId xmlns:p14="http://schemas.microsoft.com/office/powerpoint/2010/main" val="2230473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56D09E-8B3C-2A10-D4D1-F3197A42F0E1}"/>
              </a:ext>
            </a:extLst>
          </p:cNvPr>
          <p:cNvSpPr txBox="1"/>
          <p:nvPr/>
        </p:nvSpPr>
        <p:spPr>
          <a:xfrm>
            <a:off x="391725" y="1019503"/>
            <a:ext cx="8226758" cy="373999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600" dirty="0">
                <a:solidFill>
                  <a:schemeClr val="tx1"/>
                </a:solidFill>
                <a:latin typeface="+mn-lt"/>
                <a:cs typeface="Times New Roman" panose="02020603050405020304" pitchFamily="18" charset="0"/>
              </a:rPr>
              <a:t>Teamwork - </a:t>
            </a:r>
            <a:r>
              <a:rPr lang="en-US" sz="1600" dirty="0">
                <a:latin typeface="+mn-lt"/>
                <a:cs typeface="Times New Roman" panose="02020603050405020304" pitchFamily="18" charset="0"/>
              </a:rPr>
              <a:t>Collaboration and teamwork were integral to the learning experience, involving close coordination with multiple domains to design and validate model.</a:t>
            </a:r>
          </a:p>
          <a:p>
            <a:pPr marL="285750" indent="-285750" algn="just">
              <a:lnSpc>
                <a:spcPct val="150000"/>
              </a:lnSpc>
              <a:buFont typeface="Arial" panose="020B0604020202020204" pitchFamily="34" charset="0"/>
              <a:buChar char="•"/>
            </a:pPr>
            <a:r>
              <a:rPr lang="en-IN" sz="1600" dirty="0">
                <a:latin typeface="+mn-lt"/>
                <a:cs typeface="Times New Roman" panose="02020603050405020304" pitchFamily="18" charset="0"/>
              </a:rPr>
              <a:t>Critical Thinking - </a:t>
            </a:r>
            <a:r>
              <a:rPr lang="en-US" sz="1600" dirty="0">
                <a:latin typeface="+mn-lt"/>
                <a:cs typeface="Times New Roman" panose="02020603050405020304" pitchFamily="18" charset="0"/>
              </a:rPr>
              <a:t>Applied critical thinking skills to analyze and resolve complex error within the model, ensuring accurate and precise model output.</a:t>
            </a:r>
          </a:p>
          <a:p>
            <a:pPr marL="285750" lvl="3" indent="-285750" algn="just">
              <a:lnSpc>
                <a:spcPct val="150000"/>
              </a:lnSpc>
              <a:buFont typeface="Arial" panose="020B0604020202020204" pitchFamily="34" charset="0"/>
              <a:buChar char="•"/>
            </a:pPr>
            <a:r>
              <a:rPr lang="en-IN" sz="1600" dirty="0">
                <a:latin typeface="+mn-lt"/>
                <a:cs typeface="Times New Roman" panose="02020603050405020304" pitchFamily="18" charset="0"/>
              </a:rPr>
              <a:t>Problem Solving - </a:t>
            </a:r>
            <a:r>
              <a:rPr lang="en-US" sz="1600" dirty="0">
                <a:latin typeface="+mn-lt"/>
                <a:cs typeface="Times New Roman" panose="02020603050405020304" pitchFamily="18" charset="0"/>
              </a:rPr>
              <a:t>Contributed to problem-solving initiatives by developing and implementing time-bound access roles, enabling users to obtain temporary permissions for specific tasks.</a:t>
            </a:r>
          </a:p>
          <a:p>
            <a:pPr marL="285750" lvl="2" indent="-285750" algn="just">
              <a:lnSpc>
                <a:spcPct val="150000"/>
              </a:lnSpc>
              <a:buFont typeface="Arial" panose="020B0604020202020204" pitchFamily="34" charset="0"/>
              <a:buChar char="•"/>
            </a:pPr>
            <a:r>
              <a:rPr lang="en-US" sz="1600" dirty="0">
                <a:latin typeface="+mn-lt"/>
                <a:cs typeface="Times New Roman" panose="02020603050405020304" pitchFamily="18" charset="0"/>
              </a:rPr>
              <a:t>Synthesis and Evaluation of Machine Learning Models </a:t>
            </a:r>
            <a:r>
              <a:rPr lang="en-US" sz="1600" b="1" dirty="0">
                <a:latin typeface="+mn-lt"/>
                <a:cs typeface="Times New Roman" panose="02020603050405020304" pitchFamily="18" charset="0"/>
              </a:rPr>
              <a:t>- </a:t>
            </a:r>
            <a:r>
              <a:rPr lang="en-US" sz="1600" dirty="0">
                <a:latin typeface="+mn-lt"/>
                <a:cs typeface="Times New Roman" panose="02020603050405020304" pitchFamily="18" charset="0"/>
              </a:rPr>
              <a:t>This stage focuses on integrating the developed machine learning models and rigorously evaluating their performance.</a:t>
            </a:r>
          </a:p>
        </p:txBody>
      </p:sp>
      <p:sp>
        <p:nvSpPr>
          <p:cNvPr id="10" name="TextBox 9">
            <a:extLst>
              <a:ext uri="{FF2B5EF4-FFF2-40B4-BE49-F238E27FC236}">
                <a16:creationId xmlns:a16="http://schemas.microsoft.com/office/drawing/2014/main" id="{192B561F-FC61-0C8F-C21D-4E46A5564A69}"/>
              </a:ext>
            </a:extLst>
          </p:cNvPr>
          <p:cNvSpPr txBox="1"/>
          <p:nvPr/>
        </p:nvSpPr>
        <p:spPr>
          <a:xfrm>
            <a:off x="1817083" y="323772"/>
            <a:ext cx="5376041" cy="458074"/>
          </a:xfrm>
          <a:prstGeom prst="rect">
            <a:avLst/>
          </a:prstGeom>
          <a:noFill/>
        </p:spPr>
        <p:txBody>
          <a:bodyPr wrap="square">
            <a:spAutoFit/>
          </a:bodyPr>
          <a:lstStyle/>
          <a:p>
            <a:pPr>
              <a:lnSpc>
                <a:spcPct val="150000"/>
              </a:lnSpc>
            </a:pPr>
            <a:r>
              <a:rPr lang="en-IN" sz="1800" dirty="0">
                <a:latin typeface="Times New Roman" panose="02020603050405020304" pitchFamily="18" charset="0"/>
                <a:cs typeface="Times New Roman" panose="02020603050405020304" pitchFamily="18" charset="0"/>
              </a:rPr>
              <a:t>Communication, Research, Teamwork, and Leadership </a:t>
            </a:r>
          </a:p>
        </p:txBody>
      </p:sp>
    </p:spTree>
    <p:extLst>
      <p:ext uri="{BB962C8B-B14F-4D97-AF65-F5344CB8AC3E}">
        <p14:creationId xmlns:p14="http://schemas.microsoft.com/office/powerpoint/2010/main" val="2148416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3">
          <a:extLst>
            <a:ext uri="{FF2B5EF4-FFF2-40B4-BE49-F238E27FC236}">
              <a16:creationId xmlns:a16="http://schemas.microsoft.com/office/drawing/2014/main" id="{303D71C0-83E8-CD31-C4F0-1A56EA2AF0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D6AD8E5-B649-4AAE-5C5D-7CAA93055127}"/>
              </a:ext>
            </a:extLst>
          </p:cNvPr>
          <p:cNvSpPr txBox="1"/>
          <p:nvPr/>
        </p:nvSpPr>
        <p:spPr>
          <a:xfrm>
            <a:off x="2286000" y="165088"/>
            <a:ext cx="4916078"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Program-Specific Skills and Tool Application  </a:t>
            </a:r>
          </a:p>
        </p:txBody>
      </p:sp>
      <p:sp>
        <p:nvSpPr>
          <p:cNvPr id="6" name="TextBox 5">
            <a:extLst>
              <a:ext uri="{FF2B5EF4-FFF2-40B4-BE49-F238E27FC236}">
                <a16:creationId xmlns:a16="http://schemas.microsoft.com/office/drawing/2014/main" id="{8AAC7B0B-5805-CA22-0706-FFFBE8D78DBA}"/>
              </a:ext>
            </a:extLst>
          </p:cNvPr>
          <p:cNvSpPr txBox="1"/>
          <p:nvPr/>
        </p:nvSpPr>
        <p:spPr>
          <a:xfrm>
            <a:off x="168165" y="872359"/>
            <a:ext cx="8807669" cy="410933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dirty="0">
                <a:latin typeface="+mn-lt"/>
                <a:cs typeface="Times New Roman" panose="02020603050405020304" pitchFamily="18" charset="0"/>
              </a:rPr>
              <a:t>Our project is based on the field of deep learning, where accurate classification of bone marrow blood cells is essential for diagnosing hematologic diseases such as leukemia and multiple myeloma</a:t>
            </a:r>
          </a:p>
          <a:p>
            <a:pPr marL="285750" indent="-285750" algn="just">
              <a:lnSpc>
                <a:spcPct val="150000"/>
              </a:lnSpc>
              <a:buFont typeface="Arial" panose="020B0604020202020204" pitchFamily="34" charset="0"/>
              <a:buChar char="•"/>
            </a:pPr>
            <a:r>
              <a:rPr lang="en-US" sz="1600" dirty="0">
                <a:latin typeface="+mn-lt"/>
                <a:cs typeface="Times New Roman" panose="02020603050405020304" pitchFamily="18" charset="0"/>
              </a:rPr>
              <a:t>Bone marrow examination is a critical procedure for diagnosing blood-related disorders, such as leukemia, anemia, and other hematological diseases. Automated classification using deep learning can improve accuracy, efficiency, and scalability.</a:t>
            </a:r>
          </a:p>
          <a:p>
            <a:pPr marL="285750" indent="-285750" algn="just">
              <a:lnSpc>
                <a:spcPct val="150000"/>
              </a:lnSpc>
              <a:buFont typeface="Arial" panose="020B0604020202020204" pitchFamily="34" charset="0"/>
              <a:buChar char="•"/>
            </a:pPr>
            <a:endParaRPr lang="en-US" sz="1600" dirty="0">
              <a:latin typeface="+mn-lt"/>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latin typeface="+mn-lt"/>
                <a:cs typeface="Times New Roman" panose="02020603050405020304" pitchFamily="18" charset="0"/>
              </a:rPr>
              <a:t>Problem statement</a:t>
            </a:r>
          </a:p>
          <a:p>
            <a:pPr lvl="3" algn="just">
              <a:lnSpc>
                <a:spcPct val="150000"/>
              </a:lnSpc>
            </a:pPr>
            <a:r>
              <a:rPr lang="en-US" sz="1600" dirty="0">
                <a:latin typeface="+mn-lt"/>
                <a:cs typeface="Times New Roman" panose="02020603050405020304" pitchFamily="18" charset="0"/>
              </a:rPr>
              <a:t>“Develop a deep learning model capable of accurately classifying different types of bone marrow cells and Handle class imbalance effectively to ensure reliable performance across all cell types.”</a:t>
            </a:r>
          </a:p>
        </p:txBody>
      </p:sp>
    </p:spTree>
    <p:extLst>
      <p:ext uri="{BB962C8B-B14F-4D97-AF65-F5344CB8AC3E}">
        <p14:creationId xmlns:p14="http://schemas.microsoft.com/office/powerpoint/2010/main" val="807426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3">
          <a:extLst>
            <a:ext uri="{FF2B5EF4-FFF2-40B4-BE49-F238E27FC236}">
              <a16:creationId xmlns:a16="http://schemas.microsoft.com/office/drawing/2014/main" id="{A471A3FD-ED0B-501F-4B1C-95432863F0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BC6394F-CBF5-ECB6-8602-7AC22F8E932E}"/>
              </a:ext>
            </a:extLst>
          </p:cNvPr>
          <p:cNvSpPr txBox="1"/>
          <p:nvPr/>
        </p:nvSpPr>
        <p:spPr>
          <a:xfrm>
            <a:off x="2286000" y="165088"/>
            <a:ext cx="4916078"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Program-Specific Skills and Tool Application  </a:t>
            </a:r>
          </a:p>
        </p:txBody>
      </p:sp>
      <p:pic>
        <p:nvPicPr>
          <p:cNvPr id="3" name="Picture 2" descr="A collage of cells with different colors&#10;&#10;AI-generated content may be incorrect.">
            <a:extLst>
              <a:ext uri="{FF2B5EF4-FFF2-40B4-BE49-F238E27FC236}">
                <a16:creationId xmlns:a16="http://schemas.microsoft.com/office/drawing/2014/main" id="{FDCF2652-A177-67BC-7D0C-5934F9EA3C0B}"/>
              </a:ext>
            </a:extLst>
          </p:cNvPr>
          <p:cNvPicPr>
            <a:picLocks noChangeAspect="1"/>
          </p:cNvPicPr>
          <p:nvPr/>
        </p:nvPicPr>
        <p:blipFill>
          <a:blip r:embed="rId3"/>
          <a:stretch>
            <a:fillRect/>
          </a:stretch>
        </p:blipFill>
        <p:spPr>
          <a:xfrm>
            <a:off x="1871284" y="875704"/>
            <a:ext cx="5401429" cy="4267796"/>
          </a:xfrm>
          <a:prstGeom prst="rect">
            <a:avLst/>
          </a:prstGeom>
        </p:spPr>
      </p:pic>
    </p:spTree>
    <p:extLst>
      <p:ext uri="{BB962C8B-B14F-4D97-AF65-F5344CB8AC3E}">
        <p14:creationId xmlns:p14="http://schemas.microsoft.com/office/powerpoint/2010/main" val="202947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3">
          <a:extLst>
            <a:ext uri="{FF2B5EF4-FFF2-40B4-BE49-F238E27FC236}">
              <a16:creationId xmlns:a16="http://schemas.microsoft.com/office/drawing/2014/main" id="{5449478E-8DFF-F239-D390-29FA17E5AE9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942A693-2805-5525-DE08-2C926CAD945A}"/>
              </a:ext>
            </a:extLst>
          </p:cNvPr>
          <p:cNvSpPr txBox="1"/>
          <p:nvPr/>
        </p:nvSpPr>
        <p:spPr>
          <a:xfrm>
            <a:off x="2286000" y="165088"/>
            <a:ext cx="4916078"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Program-Specific Skills and Tool Application  </a:t>
            </a:r>
          </a:p>
        </p:txBody>
      </p:sp>
      <p:sp>
        <p:nvSpPr>
          <p:cNvPr id="6" name="TextBox 5">
            <a:extLst>
              <a:ext uri="{FF2B5EF4-FFF2-40B4-BE49-F238E27FC236}">
                <a16:creationId xmlns:a16="http://schemas.microsoft.com/office/drawing/2014/main" id="{C0FFB360-A479-412B-7F8C-6F4D1656551C}"/>
              </a:ext>
            </a:extLst>
          </p:cNvPr>
          <p:cNvSpPr txBox="1"/>
          <p:nvPr/>
        </p:nvSpPr>
        <p:spPr>
          <a:xfrm>
            <a:off x="168165" y="925145"/>
            <a:ext cx="8975835" cy="4109330"/>
          </a:xfrm>
          <a:prstGeom prst="rect">
            <a:avLst/>
          </a:prstGeom>
          <a:noFill/>
        </p:spPr>
        <p:txBody>
          <a:bodyPr wrap="square">
            <a:spAutoFit/>
          </a:bodyPr>
          <a:lstStyle/>
          <a:p>
            <a:pPr marL="457200" marR="0" lvl="0" indent="-45720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mn-lt"/>
                <a:ea typeface="+mn-ea"/>
                <a:cs typeface="+mn-cs"/>
              </a:rPr>
              <a:t>Manual classification is slow, error-prone, and not scalable</a:t>
            </a: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	Pathologists must visually inspect bone marrow smears, which is time-consuming and    	subjective.</a:t>
            </a: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	Human fatigue and intra-observer variability reduce reliability.</a:t>
            </a: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kern="1200" dirty="0">
                <a:latin typeface="+mn-lt"/>
                <a:ea typeface="+mn-ea"/>
                <a:cs typeface="+mn-cs"/>
              </a:rPr>
              <a:t>   </a:t>
            </a:r>
            <a:r>
              <a:rPr kumimoji="0" lang="en-US" sz="1600" b="1" i="0" u="none" strike="noStrike" kern="1200" cap="none" spc="0" normalizeH="0" baseline="0" noProof="0" dirty="0">
                <a:ln>
                  <a:noFill/>
                </a:ln>
                <a:solidFill>
                  <a:srgbClr val="000000"/>
                </a:solidFill>
                <a:effectLst/>
                <a:uLnTx/>
                <a:uFillTx/>
                <a:latin typeface="+mn-lt"/>
                <a:ea typeface="+mn-ea"/>
                <a:cs typeface="+mn-cs"/>
              </a:rPr>
              <a:t>Some cell types are rare, leading to dataset imbalance</a:t>
            </a: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	Certain bone marrow cell types occur infrequently in samples.</a:t>
            </a: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	Deep learning models trained on imbalanced data tend to be biased toward majority classes.</a:t>
            </a: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	Rare but clinically significant cells are often misclassified, impacting diagnosis.</a:t>
            </a:r>
          </a:p>
          <a:p>
            <a:pPr marL="457200" marR="0" lvl="0" indent="-45720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mn-lt"/>
                <a:ea typeface="+mn-ea"/>
                <a:cs typeface="+mn-cs"/>
              </a:rPr>
              <a:t>Fine-grained morphological differences are subtle and difficult to capture</a:t>
            </a:r>
          </a:p>
          <a:p>
            <a:pPr marL="457200" marR="0" lvl="1" indent="0" algn="just"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Many bone marrow cells share very similar shapes and textures.</a:t>
            </a:r>
          </a:p>
          <a:p>
            <a:pPr marL="457200" marR="0" lvl="1" indent="0" algn="just"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Small variations in nuclei, cytoplasm, or granules distinguish one class from another.</a:t>
            </a:r>
          </a:p>
        </p:txBody>
      </p:sp>
    </p:spTree>
    <p:extLst>
      <p:ext uri="{BB962C8B-B14F-4D97-AF65-F5344CB8AC3E}">
        <p14:creationId xmlns:p14="http://schemas.microsoft.com/office/powerpoint/2010/main" val="824395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3">
          <a:extLst>
            <a:ext uri="{FF2B5EF4-FFF2-40B4-BE49-F238E27FC236}">
              <a16:creationId xmlns:a16="http://schemas.microsoft.com/office/drawing/2014/main" id="{516E8C46-B13A-70D6-3C7C-A443700F3F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5B0EBC7-A533-FBCB-35F9-B07A3B075069}"/>
              </a:ext>
            </a:extLst>
          </p:cNvPr>
          <p:cNvSpPr txBox="1"/>
          <p:nvPr/>
        </p:nvSpPr>
        <p:spPr>
          <a:xfrm>
            <a:off x="2286000" y="165088"/>
            <a:ext cx="4916078" cy="400110"/>
          </a:xfrm>
          <a:prstGeom prst="rect">
            <a:avLst/>
          </a:prstGeom>
          <a:noFill/>
        </p:spPr>
        <p:txBody>
          <a:bodyPr wrap="square">
            <a:spAutoFit/>
          </a:bodyPr>
          <a:lstStyle/>
          <a:p>
            <a:pPr algn="ctr"/>
            <a:r>
              <a:rPr lang="en-IN" sz="2000" dirty="0">
                <a:latin typeface="Times New Roman" panose="02020603050405020304" pitchFamily="18" charset="0"/>
                <a:cs typeface="Times New Roman" panose="02020603050405020304" pitchFamily="18" charset="0"/>
              </a:rPr>
              <a:t>Datasets</a:t>
            </a:r>
          </a:p>
        </p:txBody>
      </p:sp>
      <p:sp>
        <p:nvSpPr>
          <p:cNvPr id="6" name="TextBox 5">
            <a:extLst>
              <a:ext uri="{FF2B5EF4-FFF2-40B4-BE49-F238E27FC236}">
                <a16:creationId xmlns:a16="http://schemas.microsoft.com/office/drawing/2014/main" id="{31987166-25D4-4D80-B2A2-9A5E1B88D8CF}"/>
              </a:ext>
            </a:extLst>
          </p:cNvPr>
          <p:cNvSpPr txBox="1"/>
          <p:nvPr/>
        </p:nvSpPr>
        <p:spPr>
          <a:xfrm>
            <a:off x="168165" y="925145"/>
            <a:ext cx="8975835" cy="2262671"/>
          </a:xfrm>
          <a:prstGeom prst="rect">
            <a:avLst/>
          </a:prstGeom>
          <a:noFill/>
        </p:spPr>
        <p:txBody>
          <a:bodyPr wrap="square">
            <a:spAutoFit/>
          </a:bodyPr>
          <a:lstStyle/>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i="0" u="none" strike="noStrike" kern="1200" cap="none" spc="0" normalizeH="0" baseline="0" noProof="0" dirty="0">
                <a:ln>
                  <a:noFill/>
                </a:ln>
                <a:solidFill>
                  <a:srgbClr val="000000"/>
                </a:solidFill>
                <a:effectLst/>
                <a:uLnTx/>
                <a:uFillTx/>
                <a:latin typeface="+mn-lt"/>
                <a:ea typeface="+mn-ea"/>
                <a:cs typeface="+mn-cs"/>
              </a:rPr>
              <a:t>Matek, C., Krappe, S., </a:t>
            </a:r>
            <a:r>
              <a:rPr kumimoji="0" lang="en-US" sz="1600" i="0" u="none" strike="noStrike" kern="1200" cap="none" spc="0" normalizeH="0" baseline="0" noProof="0" dirty="0" err="1">
                <a:ln>
                  <a:noFill/>
                </a:ln>
                <a:solidFill>
                  <a:srgbClr val="000000"/>
                </a:solidFill>
                <a:effectLst/>
                <a:uLnTx/>
                <a:uFillTx/>
                <a:latin typeface="+mn-lt"/>
                <a:ea typeface="+mn-ea"/>
                <a:cs typeface="+mn-cs"/>
              </a:rPr>
              <a:t>Münzenmayer</a:t>
            </a:r>
            <a:r>
              <a:rPr kumimoji="0" lang="en-US" sz="1600" i="0" u="none" strike="noStrike" kern="1200" cap="none" spc="0" normalizeH="0" baseline="0" noProof="0" dirty="0">
                <a:ln>
                  <a:noFill/>
                </a:ln>
                <a:solidFill>
                  <a:srgbClr val="000000"/>
                </a:solidFill>
                <a:effectLst/>
                <a:uLnTx/>
                <a:uFillTx/>
                <a:latin typeface="+mn-lt"/>
                <a:ea typeface="+mn-ea"/>
                <a:cs typeface="+mn-cs"/>
              </a:rPr>
              <a:t>, C., </a:t>
            </a:r>
            <a:r>
              <a:rPr kumimoji="0" lang="en-US" sz="1600" i="0" u="none" strike="noStrike" kern="1200" cap="none" spc="0" normalizeH="0" baseline="0" noProof="0" dirty="0" err="1">
                <a:ln>
                  <a:noFill/>
                </a:ln>
                <a:solidFill>
                  <a:srgbClr val="000000"/>
                </a:solidFill>
                <a:effectLst/>
                <a:uLnTx/>
                <a:uFillTx/>
                <a:latin typeface="+mn-lt"/>
                <a:ea typeface="+mn-ea"/>
                <a:cs typeface="+mn-cs"/>
              </a:rPr>
              <a:t>Haferlach</a:t>
            </a:r>
            <a:r>
              <a:rPr kumimoji="0" lang="en-US" sz="1600" i="0" u="none" strike="noStrike" kern="1200" cap="none" spc="0" normalizeH="0" baseline="0" noProof="0" dirty="0">
                <a:ln>
                  <a:noFill/>
                </a:ln>
                <a:solidFill>
                  <a:srgbClr val="000000"/>
                </a:solidFill>
                <a:effectLst/>
                <a:uLnTx/>
                <a:uFillTx/>
                <a:latin typeface="+mn-lt"/>
                <a:ea typeface="+mn-ea"/>
                <a:cs typeface="+mn-cs"/>
              </a:rPr>
              <a:t>, T., &amp; Marr, C. (2021). An Expert-Annotated Dataset of Bone Marrow Cytology in Hematologic Malignancies (Version 1) [Data set]. The Cancer Imaging Archive. https://doi.org/10.7937/TCIA.AXH3-T579</a:t>
            </a: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1600" i="0" u="none" strike="noStrike" kern="1200" cap="none" spc="0" normalizeH="0" baseline="0" noProof="0" dirty="0">
              <a:ln>
                <a:noFill/>
              </a:ln>
              <a:solidFill>
                <a:srgbClr val="000000"/>
              </a:solidFill>
              <a:effectLst/>
              <a:uLnTx/>
              <a:uFillTx/>
              <a:latin typeface="+mn-lt"/>
              <a:ea typeface="+mn-ea"/>
              <a:cs typeface="+mn-cs"/>
            </a:endParaRP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i="0" u="none" strike="noStrike" kern="1200" cap="none" spc="0" normalizeH="0" baseline="0" noProof="0" dirty="0">
                <a:ln>
                  <a:noFill/>
                </a:ln>
                <a:solidFill>
                  <a:srgbClr val="000000"/>
                </a:solidFill>
                <a:effectLst/>
                <a:uLnTx/>
                <a:uFillTx/>
                <a:latin typeface="+mn-lt"/>
                <a:ea typeface="+mn-ea"/>
                <a:cs typeface="+mn-cs"/>
              </a:rPr>
              <a:t>Bone Marrow Cell Classification - https://www.kaggle.com/datasets/andrewmvd/bone-marrow-cell-classification/data</a:t>
            </a:r>
          </a:p>
        </p:txBody>
      </p:sp>
    </p:spTree>
    <p:extLst>
      <p:ext uri="{BB962C8B-B14F-4D97-AF65-F5344CB8AC3E}">
        <p14:creationId xmlns:p14="http://schemas.microsoft.com/office/powerpoint/2010/main" val="2252700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3">
          <a:extLst>
            <a:ext uri="{FF2B5EF4-FFF2-40B4-BE49-F238E27FC236}">
              <a16:creationId xmlns:a16="http://schemas.microsoft.com/office/drawing/2014/main" id="{88213C10-07DF-B85C-6A7C-566A3BF24C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EE631E5-0C94-6499-B2A9-7D4F3056F819}"/>
              </a:ext>
            </a:extLst>
          </p:cNvPr>
          <p:cNvSpPr txBox="1"/>
          <p:nvPr/>
        </p:nvSpPr>
        <p:spPr>
          <a:xfrm>
            <a:off x="2286000" y="111926"/>
            <a:ext cx="4572000" cy="400110"/>
          </a:xfrm>
          <a:prstGeom prst="rect">
            <a:avLst/>
          </a:prstGeom>
          <a:noFill/>
        </p:spPr>
        <p:txBody>
          <a:bodyPr wrap="square">
            <a:spAutoFit/>
          </a:bodyPr>
          <a:lstStyle/>
          <a:p>
            <a:pPr algn="ctr"/>
            <a:r>
              <a:rPr lang="en-US" altLang="en-US" sz="2000" dirty="0">
                <a:latin typeface="Times New Roman" panose="02020603050405020304" pitchFamily="18" charset="0"/>
                <a:cs typeface="Times New Roman" panose="02020603050405020304" pitchFamily="18" charset="0"/>
              </a:rPr>
              <a:t>Summary of the Phase I report</a:t>
            </a:r>
            <a:endParaRPr lang="en-IN" alt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AD7AC02-B5AD-AA12-D778-A676F5F55C1E}"/>
              </a:ext>
            </a:extLst>
          </p:cNvPr>
          <p:cNvSpPr txBox="1"/>
          <p:nvPr/>
        </p:nvSpPr>
        <p:spPr>
          <a:xfrm>
            <a:off x="173420" y="851337"/>
            <a:ext cx="8797159" cy="373999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500" dirty="0">
                <a:latin typeface="+mj-lt"/>
                <a:cs typeface="Times New Roman" panose="02020603050405020304" pitchFamily="18" charset="0"/>
              </a:rPr>
              <a:t>Developed a </a:t>
            </a:r>
            <a:r>
              <a:rPr lang="en-US" sz="1600" dirty="0">
                <a:latin typeface="+mj-lt"/>
              </a:rPr>
              <a:t>Clean, expert-verified bone-marrow cell dataset and preprocessing scripts. Augmentation &amp; class-balance strategy documented. Trained model checkpoints for at least two architectures (</a:t>
            </a:r>
            <a:r>
              <a:rPr lang="en-US" sz="1600" dirty="0" err="1">
                <a:latin typeface="+mj-lt"/>
              </a:rPr>
              <a:t>Efficientnet</a:t>
            </a:r>
            <a:r>
              <a:rPr lang="en-US" sz="1600" dirty="0">
                <a:latin typeface="+mj-lt"/>
              </a:rPr>
              <a:t> B5), with evaluation reports showing per-class precision, recall and F1 accuracy.</a:t>
            </a:r>
          </a:p>
          <a:p>
            <a:pPr marL="285750" indent="-285750" algn="just">
              <a:lnSpc>
                <a:spcPct val="150000"/>
              </a:lnSpc>
              <a:buFont typeface="Arial" panose="020B0604020202020204" pitchFamily="34" charset="0"/>
              <a:buChar char="•"/>
            </a:pPr>
            <a:r>
              <a:rPr lang="en-IN" sz="1600" dirty="0"/>
              <a:t>The Bone Marrow Cells Classification System successfully demonstrates the application of deep learning and image processing to automate the identification of bone marrow cell types. The developed CNN model efficiently classifies different cell types from microscopic images, providing accurate and rapid predictions. This automation significantly reduces reliance on manual microscopic analysis and expert evaluation, helping medical professionals and researchers identify cell types quickly and accurately.</a:t>
            </a:r>
            <a:endParaRPr lang="en-IN" sz="1500" dirty="0">
              <a:latin typeface="+mj-lt"/>
              <a:cs typeface="Times New Roman" panose="02020603050405020304" pitchFamily="18" charset="0"/>
            </a:endParaRPr>
          </a:p>
        </p:txBody>
      </p:sp>
    </p:spTree>
    <p:extLst>
      <p:ext uri="{BB962C8B-B14F-4D97-AF65-F5344CB8AC3E}">
        <p14:creationId xmlns:p14="http://schemas.microsoft.com/office/powerpoint/2010/main" val="849155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3">
          <a:extLst>
            <a:ext uri="{FF2B5EF4-FFF2-40B4-BE49-F238E27FC236}">
              <a16:creationId xmlns:a16="http://schemas.microsoft.com/office/drawing/2014/main" id="{EA875527-519A-EE6C-AC76-00EE724AB2B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726A4B-30D1-C534-7278-D26E1E0EAFAD}"/>
              </a:ext>
            </a:extLst>
          </p:cNvPr>
          <p:cNvSpPr txBox="1"/>
          <p:nvPr/>
        </p:nvSpPr>
        <p:spPr>
          <a:xfrm>
            <a:off x="2030818" y="95693"/>
            <a:ext cx="5869172" cy="523220"/>
          </a:xfrm>
          <a:prstGeom prst="rect">
            <a:avLst/>
          </a:prstGeom>
          <a:noFill/>
        </p:spPr>
        <p:txBody>
          <a:bodyPr wrap="square">
            <a:spAutoFit/>
          </a:bodyPr>
          <a:lstStyle/>
          <a:p>
            <a:pPr>
              <a:spcBef>
                <a:spcPct val="0"/>
              </a:spcBef>
            </a:pPr>
            <a:r>
              <a:rPr lang="en-US" altLang="en-US" sz="1400" dirty="0">
                <a:solidFill>
                  <a:schemeClr val="accent2"/>
                </a:solidFill>
                <a:latin typeface="Cambria" panose="02040503050406030204" pitchFamily="18" charset="0"/>
              </a:rPr>
              <a:t>           REFERENCES (</a:t>
            </a:r>
            <a:r>
              <a:rPr lang="en-US" altLang="en-US" sz="1400" i="1" dirty="0">
                <a:solidFill>
                  <a:schemeClr val="accent2"/>
                </a:solidFill>
                <a:latin typeface="Cambria" panose="02040503050406030204" pitchFamily="18" charset="0"/>
              </a:rPr>
              <a:t>As per IEEE format and must be </a:t>
            </a:r>
            <a:r>
              <a:rPr lang="en-IN" altLang="en-US" sz="1400" i="1" dirty="0">
                <a:solidFill>
                  <a:schemeClr val="accent2"/>
                </a:solidFill>
                <a:latin typeface="Cambria" panose="02040503050406030204" pitchFamily="18" charset="0"/>
              </a:rPr>
              <a:t>Numbered </a:t>
            </a:r>
          </a:p>
          <a:p>
            <a:pPr>
              <a:spcBef>
                <a:spcPct val="0"/>
              </a:spcBef>
            </a:pPr>
            <a:r>
              <a:rPr lang="en-IN" altLang="en-US" sz="1400" i="1" dirty="0">
                <a:solidFill>
                  <a:schemeClr val="accent2"/>
                </a:solidFill>
                <a:latin typeface="Cambria" panose="02040503050406030204" pitchFamily="18" charset="0"/>
              </a:rPr>
              <a:t>   consecutively in order of first mention</a:t>
            </a:r>
            <a:r>
              <a:rPr lang="en-US" altLang="en-US" sz="1400" dirty="0">
                <a:solidFill>
                  <a:schemeClr val="accent2"/>
                </a:solidFill>
                <a:latin typeface="Cambria" panose="02040503050406030204" pitchFamily="18" charset="0"/>
              </a:rPr>
              <a:t>) &amp; Annexures / Appendix   </a:t>
            </a:r>
          </a:p>
        </p:txBody>
      </p:sp>
      <p:sp>
        <p:nvSpPr>
          <p:cNvPr id="8" name="Rectangle 7">
            <a:extLst>
              <a:ext uri="{FF2B5EF4-FFF2-40B4-BE49-F238E27FC236}">
                <a16:creationId xmlns:a16="http://schemas.microsoft.com/office/drawing/2014/main" id="{1334BA72-5426-61AE-1B85-1816C6E3669F}"/>
              </a:ext>
            </a:extLst>
          </p:cNvPr>
          <p:cNvSpPr/>
          <p:nvPr/>
        </p:nvSpPr>
        <p:spPr>
          <a:xfrm>
            <a:off x="181903" y="974005"/>
            <a:ext cx="8780194" cy="3693246"/>
          </a:xfrm>
          <a:prstGeom prst="rect">
            <a:avLst/>
          </a:prstGeom>
          <a:solidFill>
            <a:schemeClr val="lt1">
              <a:alpha val="99000"/>
            </a:schemeClr>
          </a:solidFill>
          <a:ln w="76200">
            <a:noFill/>
          </a:ln>
        </p:spPr>
        <p:style>
          <a:lnRef idx="2">
            <a:schemeClr val="accent4"/>
          </a:lnRef>
          <a:fillRef idx="1">
            <a:schemeClr val="lt1"/>
          </a:fillRef>
          <a:effectRef idx="0">
            <a:schemeClr val="accent4"/>
          </a:effectRef>
          <a:fontRef idx="minor">
            <a:schemeClr val="dk1"/>
          </a:fontRef>
        </p:style>
        <p:txBody>
          <a:bodyPr anchor="ctr"/>
          <a:lstStyle/>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ea typeface="+mn-ea"/>
                <a:cs typeface="+mn-cs"/>
              </a:rPr>
              <a:t>Zeng, X. et al. "A novel strategy to improve bone marrow cell classification using hierarchical deep learning models." ScienceDirect, 2024.</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ea typeface="+mn-ea"/>
                <a:cs typeface="+mn-cs"/>
              </a:rPr>
              <a:t>Zhou, T. et al. "Recent advancements in machine learning for bone marrow cell identification." Frontiers in Medicine, 2024.</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ea typeface="+mn-ea"/>
                <a:cs typeface="+mn-cs"/>
              </a:rPr>
              <a:t>Liu, Y. et al. "Automated Bone Marrow Cell Classification for </a:t>
            </a:r>
            <a:r>
              <a:rPr kumimoji="0" lang="en-IN" sz="1600" b="0" i="0" u="none" strike="noStrike" kern="1200" cap="none" spc="0" normalizeH="0" baseline="0" noProof="0" dirty="0" err="1">
                <a:ln>
                  <a:noFill/>
                </a:ln>
                <a:solidFill>
                  <a:srgbClr val="000000"/>
                </a:solidFill>
                <a:effectLst/>
                <a:uLnTx/>
                <a:uFillTx/>
                <a:ea typeface="+mn-ea"/>
                <a:cs typeface="+mn-cs"/>
              </a:rPr>
              <a:t>Leukemia</a:t>
            </a:r>
            <a:r>
              <a:rPr kumimoji="0" lang="en-IN" sz="1600" b="0" i="0" u="none" strike="noStrike" kern="1200" cap="none" spc="0" normalizeH="0" baseline="0" noProof="0" dirty="0">
                <a:ln>
                  <a:noFill/>
                </a:ln>
                <a:solidFill>
                  <a:srgbClr val="000000"/>
                </a:solidFill>
                <a:effectLst/>
                <a:uLnTx/>
                <a:uFillTx/>
                <a:ea typeface="+mn-ea"/>
                <a:cs typeface="+mn-cs"/>
              </a:rPr>
              <a:t> Diagnosis using a Siamese Network." PMC, 2022.</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ea typeface="+mn-ea"/>
                <a:cs typeface="+mn-cs"/>
              </a:rPr>
              <a:t>Ortner, J. et al. "High-accuracy morphological identification of bone marrow cells using deep neural networks." Nature Scientific Reports, 2023.</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ea typeface="+mn-ea"/>
                <a:cs typeface="+mn-cs"/>
              </a:rPr>
              <a:t>Gupta, S. et al. "Models for the marrow: A comprehensive review of AI‐based cell classification in </a:t>
            </a:r>
            <a:r>
              <a:rPr kumimoji="0" lang="en-IN" sz="1600" b="0" i="0" u="none" strike="noStrike" kern="1200" cap="none" spc="0" normalizeH="0" baseline="0" noProof="0" dirty="0" err="1">
                <a:ln>
                  <a:noFill/>
                </a:ln>
                <a:solidFill>
                  <a:srgbClr val="000000"/>
                </a:solidFill>
                <a:effectLst/>
                <a:uLnTx/>
                <a:uFillTx/>
                <a:ea typeface="+mn-ea"/>
                <a:cs typeface="+mn-cs"/>
              </a:rPr>
              <a:t>hematology</a:t>
            </a:r>
            <a:r>
              <a:rPr kumimoji="0" lang="en-IN" sz="1600" b="0" i="0" u="none" strike="noStrike" kern="1200" cap="none" spc="0" normalizeH="0" baseline="0" noProof="0" dirty="0">
                <a:ln>
                  <a:noFill/>
                </a:ln>
                <a:solidFill>
                  <a:srgbClr val="000000"/>
                </a:solidFill>
                <a:effectLst/>
                <a:uLnTx/>
                <a:uFillTx/>
                <a:ea typeface="+mn-ea"/>
                <a:cs typeface="+mn-cs"/>
              </a:rPr>
              <a:t>." PMC, 2024.</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ea typeface="+mn-ea"/>
                <a:cs typeface="+mn-cs"/>
              </a:rPr>
              <a:t>Comprehensive review of AI‐based cell classification in </a:t>
            </a:r>
            <a:r>
              <a:rPr kumimoji="0" lang="en-IN" sz="1600" b="0" i="0" u="none" strike="noStrike" kern="1200" cap="none" spc="0" normalizeH="0" baseline="0" noProof="0" dirty="0" err="1">
                <a:ln>
                  <a:noFill/>
                </a:ln>
                <a:solidFill>
                  <a:srgbClr val="000000"/>
                </a:solidFill>
                <a:effectLst/>
                <a:uLnTx/>
                <a:uFillTx/>
                <a:ea typeface="+mn-ea"/>
                <a:cs typeface="+mn-cs"/>
              </a:rPr>
              <a:t>hematology</a:t>
            </a:r>
            <a:r>
              <a:rPr kumimoji="0" lang="en-IN" sz="1600" b="0" i="0" u="none" strike="noStrike" kern="1200" cap="none" spc="0" normalizeH="0" baseline="0" noProof="0" dirty="0">
                <a:ln>
                  <a:noFill/>
                </a:ln>
                <a:solidFill>
                  <a:srgbClr val="000000"/>
                </a:solidFill>
                <a:effectLst/>
                <a:uLnTx/>
                <a:uFillTx/>
                <a:ea typeface="+mn-ea"/>
                <a:cs typeface="+mn-cs"/>
              </a:rPr>
              <a:t>. Wiley, 2024.</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ea typeface="+mn-ea"/>
                <a:cs typeface="+mn-cs"/>
              </a:rPr>
              <a:t>Wang, H. et al. "A machine-learning-based algorithm for bone marrow cell identification." ScienceDirect, 2024.</a:t>
            </a:r>
          </a:p>
        </p:txBody>
      </p:sp>
    </p:spTree>
    <p:extLst>
      <p:ext uri="{BB962C8B-B14F-4D97-AF65-F5344CB8AC3E}">
        <p14:creationId xmlns:p14="http://schemas.microsoft.com/office/powerpoint/2010/main" val="174425590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854</TotalTime>
  <Words>1431</Words>
  <Application>Microsoft Office PowerPoint</Application>
  <PresentationFormat>On-screen Show (16:9)</PresentationFormat>
  <Paragraphs>95</Paragraphs>
  <Slides>15</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Cambria</vt:lpstr>
      <vt:lpstr>Playfair Display</vt:lpstr>
      <vt:lpstr>Times New Roman</vt:lpstr>
      <vt:lpstr>Simple Light</vt:lpstr>
      <vt:lpstr>PowerPoint Presentation</vt:lpstr>
      <vt:lpstr>PowerPoint Presentation</vt:lpstr>
      <vt:lpstr>PowerPoint Presentation</vt:lpstr>
      <vt:lpstr>PowerPoint Presentation</vt:lpstr>
      <vt:lpstr>PowerPoint Presentation</vt:lpstr>
      <vt:lpstr>Organizational Concepts  </vt:lpstr>
      <vt:lpstr>Organizational Concepts  </vt:lpstr>
      <vt:lpstr>Organizational Concepts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Veerasagar SS</cp:lastModifiedBy>
  <cp:revision>28</cp:revision>
  <dcterms:modified xsi:type="dcterms:W3CDTF">2025-10-29T18:50:32Z</dcterms:modified>
</cp:coreProperties>
</file>